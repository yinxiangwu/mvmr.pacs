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F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CB518C-996A-8742-9CA1-0872B1084D19}" v="33" dt="2025-11-08T00:01:16.1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84"/>
    <p:restoredTop sz="94422"/>
  </p:normalViewPr>
  <p:slideViewPr>
    <p:cSldViewPr snapToGrid="0">
      <p:cViewPr>
        <p:scale>
          <a:sx n="116" d="100"/>
          <a:sy n="116" d="100"/>
        </p:scale>
        <p:origin x="1264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inxiang Wu" userId="d063f20d-a8da-4dd2-96c1-f6f41de0e742" providerId="ADAL" clId="{88B3E968-DF63-B043-8295-02E5FC9C6E8D}"/>
    <pc:docChg chg="modSld">
      <pc:chgData name="Yinxiang Wu" userId="d063f20d-a8da-4dd2-96c1-f6f41de0e742" providerId="ADAL" clId="{88B3E968-DF63-B043-8295-02E5FC9C6E8D}" dt="2025-04-01T18:48:27.074" v="152" actId="1076"/>
      <pc:docMkLst>
        <pc:docMk/>
      </pc:docMkLst>
      <pc:sldChg chg="modSp mod">
        <pc:chgData name="Yinxiang Wu" userId="d063f20d-a8da-4dd2-96c1-f6f41de0e742" providerId="ADAL" clId="{88B3E968-DF63-B043-8295-02E5FC9C6E8D}" dt="2025-04-01T18:48:27.074" v="152" actId="1076"/>
        <pc:sldMkLst>
          <pc:docMk/>
          <pc:sldMk cId="4238940043" sldId="256"/>
        </pc:sldMkLst>
      </pc:sldChg>
    </pc:docChg>
  </pc:docChgLst>
  <pc:docChgLst>
    <pc:chgData name="Yinxiang Wu" userId="d063f20d-a8da-4dd2-96c1-f6f41de0e742" providerId="ADAL" clId="{B2F61C33-3CC1-5017-93FB-E102014A9CFC}"/>
    <pc:docChg chg="undo redo custSel addSld modSld">
      <pc:chgData name="Yinxiang Wu" userId="d063f20d-a8da-4dd2-96c1-f6f41de0e742" providerId="ADAL" clId="{B2F61C33-3CC1-5017-93FB-E102014A9CFC}" dt="2025-11-08T00:02:06.197" v="211" actId="164"/>
      <pc:docMkLst>
        <pc:docMk/>
      </pc:docMkLst>
      <pc:sldChg chg="addSp delSp modSp mod">
        <pc:chgData name="Yinxiang Wu" userId="d063f20d-a8da-4dd2-96c1-f6f41de0e742" providerId="ADAL" clId="{B2F61C33-3CC1-5017-93FB-E102014A9CFC}" dt="2025-11-08T00:02:06.197" v="211" actId="164"/>
        <pc:sldMkLst>
          <pc:docMk/>
          <pc:sldMk cId="4238940043" sldId="256"/>
        </pc:sldMkLst>
        <pc:spChg chg="add mod">
          <ac:chgData name="Yinxiang Wu" userId="d063f20d-a8da-4dd2-96c1-f6f41de0e742" providerId="ADAL" clId="{B2F61C33-3CC1-5017-93FB-E102014A9CFC}" dt="2025-11-08T00:01:41.768" v="209" actId="1076"/>
          <ac:spMkLst>
            <pc:docMk/>
            <pc:sldMk cId="4238940043" sldId="256"/>
            <ac:spMk id="3" creationId="{6D24E689-A897-7662-EE11-286B5302FDE2}"/>
          </ac:spMkLst>
        </pc:spChg>
        <pc:spChg chg="mod">
          <ac:chgData name="Yinxiang Wu" userId="d063f20d-a8da-4dd2-96c1-f6f41de0e742" providerId="ADAL" clId="{B2F61C33-3CC1-5017-93FB-E102014A9CFC}" dt="2025-11-08T00:01:48.969" v="210" actId="1076"/>
          <ac:spMkLst>
            <pc:docMk/>
            <pc:sldMk cId="4238940043" sldId="256"/>
            <ac:spMk id="88" creationId="{99F711E4-B400-1E7B-F651-D488070E134A}"/>
          </ac:spMkLst>
        </pc:spChg>
        <pc:grpChg chg="add">
          <ac:chgData name="Yinxiang Wu" userId="d063f20d-a8da-4dd2-96c1-f6f41de0e742" providerId="ADAL" clId="{B2F61C33-3CC1-5017-93FB-E102014A9CFC}" dt="2025-11-08T00:02:06.197" v="211" actId="164"/>
          <ac:grpSpMkLst>
            <pc:docMk/>
            <pc:sldMk cId="4238940043" sldId="256"/>
            <ac:grpSpMk id="4" creationId="{27259A6D-F492-D9A4-4AA8-84BD48DA8419}"/>
          </ac:grpSpMkLst>
        </pc:grpChg>
      </pc:sldChg>
      <pc:sldChg chg="addSp delSp modSp new mod">
        <pc:chgData name="Yinxiang Wu" userId="d063f20d-a8da-4dd2-96c1-f6f41de0e742" providerId="ADAL" clId="{B2F61C33-3CC1-5017-93FB-E102014A9CFC}" dt="2025-09-30T02:30:17.218" v="172" actId="164"/>
        <pc:sldMkLst>
          <pc:docMk/>
          <pc:sldMk cId="3605923855" sldId="258"/>
        </pc:sldMkLst>
      </pc:sldChg>
    </pc:docChg>
  </pc:docChgLst>
  <pc:docChgLst>
    <pc:chgData name="Yinxiang Wu" userId="d063f20d-a8da-4dd2-96c1-f6f41de0e742" providerId="ADAL" clId="{2D4D29D3-72FD-1E4C-A229-F4E4BC35B31E}"/>
    <pc:docChg chg="custSel modSld">
      <pc:chgData name="Yinxiang Wu" userId="d063f20d-a8da-4dd2-96c1-f6f41de0e742" providerId="ADAL" clId="{2D4D29D3-72FD-1E4C-A229-F4E4BC35B31E}" dt="2025-06-04T17:29:31.516" v="39" actId="1035"/>
      <pc:docMkLst>
        <pc:docMk/>
      </pc:docMkLst>
      <pc:sldChg chg="addSp delSp modSp mod">
        <pc:chgData name="Yinxiang Wu" userId="d063f20d-a8da-4dd2-96c1-f6f41de0e742" providerId="ADAL" clId="{2D4D29D3-72FD-1E4C-A229-F4E4BC35B31E}" dt="2025-06-04T17:29:31.516" v="39" actId="1035"/>
        <pc:sldMkLst>
          <pc:docMk/>
          <pc:sldMk cId="4238940043" sldId="256"/>
        </pc:sldMkLst>
      </pc:sldChg>
    </pc:docChg>
  </pc:docChgLst>
  <pc:docChgLst>
    <pc:chgData name="Yinxiang Wu" userId="d063f20d-a8da-4dd2-96c1-f6f41de0e742" providerId="ADAL" clId="{4E391D32-12C4-CF44-B57C-A6EB371EE19D}"/>
    <pc:docChg chg="custSel addSld modSld">
      <pc:chgData name="Yinxiang Wu" userId="d063f20d-a8da-4dd2-96c1-f6f41de0e742" providerId="ADAL" clId="{4E391D32-12C4-CF44-B57C-A6EB371EE19D}" dt="2025-04-22T05:43:33.927" v="16" actId="1076"/>
      <pc:docMkLst>
        <pc:docMk/>
      </pc:docMkLst>
      <pc:sldChg chg="addSp modSp">
        <pc:chgData name="Yinxiang Wu" userId="d063f20d-a8da-4dd2-96c1-f6f41de0e742" providerId="ADAL" clId="{4E391D32-12C4-CF44-B57C-A6EB371EE19D}" dt="2025-04-20T22:30:56.350" v="0" actId="164"/>
        <pc:sldMkLst>
          <pc:docMk/>
          <pc:sldMk cId="4238940043" sldId="256"/>
        </pc:sldMkLst>
      </pc:sldChg>
      <pc:sldChg chg="addSp delSp modSp new mod">
        <pc:chgData name="Yinxiang Wu" userId="d063f20d-a8da-4dd2-96c1-f6f41de0e742" providerId="ADAL" clId="{4E391D32-12C4-CF44-B57C-A6EB371EE19D}" dt="2025-04-22T05:43:33.927" v="16" actId="1076"/>
        <pc:sldMkLst>
          <pc:docMk/>
          <pc:sldMk cId="2484583615" sldId="25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6A26D-6725-6309-FA58-718120BE8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5F2C48-2177-6D1D-56B9-150D514D28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172F71-15D8-9FED-0520-1F8A2442F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B8D2E-C74D-5341-A0F2-0F89212F4F0D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20617E-C149-8BE0-7DCF-C6E2678B5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708474-A70C-724E-CC5F-01643341F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8D9D-856E-4340-8608-05D7B726C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538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BC089-A259-59F0-D04C-F4500358C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A78D26-8426-53EF-81C6-682FF22F65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53C704-29B8-64B9-170C-3249C165C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B8D2E-C74D-5341-A0F2-0F89212F4F0D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6AB6A0-F85A-10D6-EAC9-9229654AC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899C0E-99A7-C564-F2CB-DE26E9BC8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8D9D-856E-4340-8608-05D7B726C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487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7D5AA-85D7-08A1-72D1-9ED119DD0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C21AFC-011D-08BA-6049-2E4519301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96E531-0DA5-F9DF-B8DC-0117096ED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B8D2E-C74D-5341-A0F2-0F89212F4F0D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0ACECF-7062-90B2-A117-980304A39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18EE44-D675-1858-0271-5B7BE0F6C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8D9D-856E-4340-8608-05D7B726C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147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0E00A-4A7B-005E-E624-837C49617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F590C6-FB4C-EF0D-FE27-C45D344C1C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EAAFB2-6BC0-872F-8AA5-3C91B51BBA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DDCFB0-9125-A333-100F-8FAAB7AD5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B8D2E-C74D-5341-A0F2-0F89212F4F0D}" type="datetimeFigureOut">
              <a:rPr lang="en-US" smtClean="0"/>
              <a:t>11/7/25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751C6D-0936-E332-BDC3-4CBDB636A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CCF00C-DA11-CB71-0FD5-46CD9C4BA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8D9D-856E-4340-8608-05D7B726C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351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D301B-1F02-19A8-3828-19A0A2850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7513C8-30BB-FBEA-9D54-62409C2913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C6D1B9-F33D-A198-C187-76DD7B1F38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990990-8AD0-5FF0-15DC-1B31F397DA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6D747D-9FE2-A8A7-8182-C01F8C17F7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1F0833-6B22-699B-BDE6-8F80BF587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B8D2E-C74D-5341-A0F2-0F89212F4F0D}" type="datetimeFigureOut">
              <a:rPr lang="en-US" smtClean="0"/>
              <a:t>11/7/25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C053D9-6074-5167-3D38-5AC100B00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F972BD-67EA-23C9-8D06-95E91FF36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8D9D-856E-4340-8608-05D7B726C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624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1D213-6D27-4C20-42F4-E8AB0C256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1CA765-FF48-A1B3-ABC6-A8014177C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B8D2E-C74D-5341-A0F2-0F89212F4F0D}" type="datetimeFigureOut">
              <a:rPr lang="en-US" smtClean="0"/>
              <a:t>11/7/25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0B85DE-A656-C11D-90FE-94EF9E3DE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6DAFE6-208B-97AF-B353-C9D3CEC17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8D9D-856E-4340-8608-05D7B726C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650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EF0720-E9BC-A1AF-CC59-F0C611045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B8D2E-C74D-5341-A0F2-0F89212F4F0D}" type="datetimeFigureOut">
              <a:rPr lang="en-US" smtClean="0"/>
              <a:t>11/7/25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CBE488-C625-E918-C56E-30D6685EE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F0F683-F032-78D5-0C74-0330C84AB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8D9D-856E-4340-8608-05D7B726C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875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B72AB-AEDC-6225-C73B-DE4F81D69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615A39-C60B-A7AD-95C4-CF0C6C283F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A1AFAB-B45D-4E34-7626-21CFD276D4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E6A038-1FC9-79CC-630B-5EB84B4CE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B8D2E-C74D-5341-A0F2-0F89212F4F0D}" type="datetimeFigureOut">
              <a:rPr lang="en-US" smtClean="0"/>
              <a:t>11/7/25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81BD09-C242-792A-6C66-0CA0E6445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AF189A-5DC9-85E6-82A9-098C3D312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8D9D-856E-4340-8608-05D7B726C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872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DCBD9-B538-CE2D-D1C2-136198B17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2BD14D-4529-D5BA-7CD4-50DE0F8325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6376BA-93CD-29C1-6AE5-99BDD50D2A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CAE816-4449-644A-2575-77D39F04D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B8D2E-C74D-5341-A0F2-0F89212F4F0D}" type="datetimeFigureOut">
              <a:rPr lang="en-US" smtClean="0"/>
              <a:t>11/7/25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2CB4FF-FEF8-6260-F640-89588E9F1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22F307-CBFC-1722-353C-0D6212581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8D9D-856E-4340-8608-05D7B726C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622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6B3A7-D5C0-AEC5-068C-D1B31F2BF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634E0A-4A15-1488-314B-25B6478505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E01219-6098-7C6A-65E0-B28FEC2B4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B8D2E-C74D-5341-A0F2-0F89212F4F0D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BF8363-BFCF-B59E-7CBC-AF93BF5B1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9CEAA6-8F56-AB38-9774-4ECE1C5EB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8D9D-856E-4340-8608-05D7B726C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405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96275E-74C3-819E-E605-4C04DC2402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809745-D4A7-435A-BA92-0D6E61C584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E10022-4A2C-C751-ECCA-6DDAD4A2C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B8D2E-C74D-5341-A0F2-0F89212F4F0D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F22774-9C48-3463-EE97-375E8DDB9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93940F-D9D1-6FBF-7E9E-5CEB7EA8E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8D9D-856E-4340-8608-05D7B726C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056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1FB399-B1CE-B5A6-D06B-0FDB2FE1E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651E67-D3CB-081E-28C9-33E00EA243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5D9E7-DC43-39C1-2553-F31C8BF851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BB8D2E-C74D-5341-A0F2-0F89212F4F0D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EFFF13-389C-2B21-D6A0-54C73A3408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D8AB95-5E32-C517-0FF3-929FD5B2AC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568D9D-856E-4340-8608-05D7B726C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319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8" Type="http://schemas.openxmlformats.org/officeDocument/2006/relationships/image" Target="../media/image10.png"/><Relationship Id="rId3" Type="http://schemas.openxmlformats.org/officeDocument/2006/relationships/image" Target="../media/image2.png"/><Relationship Id="rId21" Type="http://schemas.openxmlformats.org/officeDocument/2006/relationships/image" Target="../media/image8.png"/><Relationship Id="rId7" Type="http://schemas.openxmlformats.org/officeDocument/2006/relationships/image" Target="../media/image4.png"/><Relationship Id="rId17" Type="http://schemas.openxmlformats.org/officeDocument/2006/relationships/image" Target="../media/image9.png"/><Relationship Id="rId2" Type="http://schemas.openxmlformats.org/officeDocument/2006/relationships/image" Target="../media/image1.jpeg"/><Relationship Id="rId16" Type="http://schemas.openxmlformats.org/officeDocument/2006/relationships/image" Target="../media/image7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eg"/><Relationship Id="rId5" Type="http://schemas.openxmlformats.org/officeDocument/2006/relationships/image" Target="../media/image2.jpeg"/><Relationship Id="rId15" Type="http://schemas.openxmlformats.org/officeDocument/2006/relationships/image" Target="../media/image6.png"/><Relationship Id="rId19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7259A6D-F492-D9A4-4AA8-84BD48DA8419}"/>
              </a:ext>
            </a:extLst>
          </p:cNvPr>
          <p:cNvGrpSpPr/>
          <p:nvPr/>
        </p:nvGrpSpPr>
        <p:grpSpPr>
          <a:xfrm>
            <a:off x="187542" y="215125"/>
            <a:ext cx="7026686" cy="6586817"/>
            <a:chOff x="187542" y="215125"/>
            <a:chExt cx="7026686" cy="6586817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E18B065-2DA4-8FAD-DA89-4A3D83202F65}"/>
                </a:ext>
              </a:extLst>
            </p:cNvPr>
            <p:cNvGrpSpPr/>
            <p:nvPr/>
          </p:nvGrpSpPr>
          <p:grpSpPr>
            <a:xfrm>
              <a:off x="187542" y="215125"/>
              <a:ext cx="7026686" cy="6586817"/>
              <a:chOff x="187542" y="215125"/>
              <a:chExt cx="7026686" cy="6586817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E79C3A6A-B6E9-1015-57A8-FC5A29035538}"/>
                  </a:ext>
                </a:extLst>
              </p:cNvPr>
              <p:cNvGrpSpPr/>
              <p:nvPr/>
            </p:nvGrpSpPr>
            <p:grpSpPr>
              <a:xfrm>
                <a:off x="187542" y="215125"/>
                <a:ext cx="7026686" cy="6586817"/>
                <a:chOff x="273267" y="211950"/>
                <a:chExt cx="7026686" cy="6586817"/>
              </a:xfrm>
            </p:grpSpPr>
            <p:grpSp>
              <p:nvGrpSpPr>
                <p:cNvPr id="135" name="Group 134">
                  <a:extLst>
                    <a:ext uri="{FF2B5EF4-FFF2-40B4-BE49-F238E27FC236}">
                      <a16:creationId xmlns:a16="http://schemas.microsoft.com/office/drawing/2014/main" id="{47F6078F-8085-C0F0-8BD0-570EC8152C29}"/>
                    </a:ext>
                  </a:extLst>
                </p:cNvPr>
                <p:cNvGrpSpPr/>
                <p:nvPr/>
              </p:nvGrpSpPr>
              <p:grpSpPr>
                <a:xfrm>
                  <a:off x="273267" y="211950"/>
                  <a:ext cx="7026686" cy="6586817"/>
                  <a:chOff x="273267" y="211950"/>
                  <a:chExt cx="7026686" cy="6586817"/>
                </a:xfrm>
              </p:grpSpPr>
              <p:pic>
                <p:nvPicPr>
                  <p:cNvPr id="9" name="Picture 8" descr="A graph of a graph with different colored squares&#10;&#10;AI-generated content may be incorrect.">
                    <a:extLst>
                      <a:ext uri="{FF2B5EF4-FFF2-40B4-BE49-F238E27FC236}">
                        <a16:creationId xmlns:a16="http://schemas.microsoft.com/office/drawing/2014/main" id="{245319B7-2177-1077-4DE6-5B2E024CFDB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284232" y="4193564"/>
                    <a:ext cx="2605203" cy="2605203"/>
                  </a:xfrm>
                  <a:prstGeom prst="rect">
                    <a:avLst/>
                  </a:prstGeom>
                </p:spPr>
              </p:pic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51B785F7-1A9F-5A9E-0FB4-60BD48D5F472}"/>
                      </a:ext>
                    </a:extLst>
                  </p:cNvPr>
                  <p:cNvSpPr txBox="1"/>
                  <p:nvPr/>
                </p:nvSpPr>
                <p:spPr>
                  <a:xfrm>
                    <a:off x="910622" y="1961539"/>
                    <a:ext cx="3197799" cy="2616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100" b="1"/>
                      <a:t>GWAS summary statistics</a:t>
                    </a:r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0" name="TextBox 19">
                        <a:extLst>
                          <a:ext uri="{FF2B5EF4-FFF2-40B4-BE49-F238E27FC236}">
                            <a16:creationId xmlns:a16="http://schemas.microsoft.com/office/drawing/2014/main" id="{5486E4A0-2AC8-ABEB-AAF3-BA66ADE1E89C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750586" y="1193876"/>
                        <a:ext cx="1702637" cy="5218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r>
                          <a:rPr lang="en-US" sz="1100"/>
                          <a:t>Data copy 1</a:t>
                        </a:r>
                      </a:p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left"/>
                            </m:oMathParaPr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11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11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100" b="1" i="1" smtClean="0">
                                              <a:latin typeface="Cambria Math" panose="02040503050406030204" pitchFamily="18" charset="0"/>
                                            </a:rPr>
                                            <m:t>𝜸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11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>
                                      <m:r>
                                        <a:rPr lang="en-US" sz="1100" b="0" i="1" smtClean="0">
                                          <a:latin typeface="Cambria Math" panose="02040503050406030204" pitchFamily="18" charset="0"/>
                                        </a:rPr>
                                        <m:t>(1)</m:t>
                                      </m:r>
                                    </m:sup>
                                  </m:sSubSup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Sup>
                                    <m:sSubSupPr>
                                      <m:ctrlPr>
                                        <a:rPr lang="en-US" sz="11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11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100" b="0" i="0" smtClean="0">
                                              <a:latin typeface="Cambria Math" panose="02040503050406030204" pitchFamily="18" charset="0"/>
                                            </a:rPr>
                                            <m:t>Γ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11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>
                                      <m:r>
                                        <a:rPr lang="en-US" sz="1100" b="0" i="1" smtClean="0">
                                          <a:latin typeface="Cambria Math" panose="02040503050406030204" pitchFamily="18" charset="0"/>
                                        </a:rPr>
                                        <m:t>(1)</m:t>
                                      </m:r>
                                    </m:sup>
                                  </m:sSubSup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sSubSup>
                                    <m:sSubSupPr>
                                      <m:ctrlPr>
                                        <a:rPr lang="en-US" sz="11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100" b="0" i="0" smtClean="0">
                                          <a:latin typeface="Cambria Math" panose="02040503050406030204" pitchFamily="18" charset="0"/>
                                        </a:rPr>
                                        <m:t>Σ</m:t>
                                      </m:r>
                                    </m:e>
                                    <m:sub>
                                      <m:r>
                                        <a:rPr lang="en-US" sz="1100" b="0" i="1" smtClean="0">
                                          <a:latin typeface="Cambria Math" panose="02040503050406030204" pitchFamily="18" charset="0"/>
                                        </a:rPr>
                                        <m:t>𝑋𝑗</m:t>
                                      </m:r>
                                    </m:sub>
                                    <m:sup>
                                      <m:r>
                                        <a:rPr lang="en-US" sz="1100" b="0" i="1" smtClean="0">
                                          <a:latin typeface="Cambria Math" panose="02040503050406030204" pitchFamily="18" charset="0"/>
                                        </a:rPr>
                                        <m:t>(1)</m:t>
                                      </m:r>
                                    </m:sup>
                                  </m:sSubSup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lang="en-US" sz="11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Sup>
                                        <m:sSubSupPr>
                                          <m:ctrlPr>
                                            <a:rPr lang="en-US" sz="11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1100" b="0" i="1" smtClean="0"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b>
                                          <m:r>
                                            <a:rPr lang="en-US" sz="1100" b="0" i="1" smtClean="0">
                                              <a:latin typeface="Cambria Math" panose="02040503050406030204" pitchFamily="18" charset="0"/>
                                            </a:rPr>
                                            <m:t>𝑌𝑗</m:t>
                                          </m:r>
                                        </m:sub>
                                        <m:sup>
                                          <m:r>
                                            <a:rPr lang="en-US" sz="11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</m:e>
                                    <m:sup>
                                      <m:r>
                                        <a:rPr lang="en-US" sz="1100" b="0" i="1" smtClean="0">
                                          <a:latin typeface="Cambria Math" panose="02040503050406030204" pitchFamily="18" charset="0"/>
                                        </a:rPr>
                                        <m:t>(1)</m:t>
                                      </m:r>
                                    </m:sup>
                                  </m:sSup>
                                </m:e>
                              </m:d>
                            </m:oMath>
                          </m:oMathPara>
                        </a14:m>
                        <a:endParaRPr lang="en-US" sz="1100"/>
                      </a:p>
                    </p:txBody>
                  </p:sp>
                </mc:Choice>
                <mc:Fallback xmlns="">
                  <p:sp>
                    <p:nvSpPr>
                      <p:cNvPr id="20" name="TextBox 19">
                        <a:extLst>
                          <a:ext uri="{FF2B5EF4-FFF2-40B4-BE49-F238E27FC236}">
                            <a16:creationId xmlns:a16="http://schemas.microsoft.com/office/drawing/2014/main" id="{5486E4A0-2AC8-ABEB-AAF3-BA66ADE1E89C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750586" y="1193876"/>
                        <a:ext cx="1702637" cy="521810"/>
                      </a:xfrm>
                      <a:prstGeom prst="rect">
                        <a:avLst/>
                      </a:prstGeom>
                      <a:blipFill>
                        <a:blip r:embed="rId3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grpSp>
                <p:nvGrpSpPr>
                  <p:cNvPr id="21" name="Group 20">
                    <a:extLst>
                      <a:ext uri="{FF2B5EF4-FFF2-40B4-BE49-F238E27FC236}">
                        <a16:creationId xmlns:a16="http://schemas.microsoft.com/office/drawing/2014/main" id="{5C7DAB26-38CE-A60A-90B5-C073233674F2}"/>
                      </a:ext>
                    </a:extLst>
                  </p:cNvPr>
                  <p:cNvGrpSpPr/>
                  <p:nvPr/>
                </p:nvGrpSpPr>
                <p:grpSpPr>
                  <a:xfrm>
                    <a:off x="273267" y="1906537"/>
                    <a:ext cx="3318749" cy="1940089"/>
                    <a:chOff x="273267" y="1906537"/>
                    <a:chExt cx="3318749" cy="1940089"/>
                  </a:xfrm>
                </p:grpSpPr>
                <p:sp>
                  <p:nvSpPr>
                    <p:cNvPr id="22" name="Rounded Rectangle 21">
                      <a:extLst>
                        <a:ext uri="{FF2B5EF4-FFF2-40B4-BE49-F238E27FC236}">
                          <a16:creationId xmlns:a16="http://schemas.microsoft.com/office/drawing/2014/main" id="{BC43A8FE-848D-CACE-2DA7-8350F24C473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73267" y="1906537"/>
                      <a:ext cx="3318749" cy="1940089"/>
                    </a:xfrm>
                    <a:prstGeom prst="roundRect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5" name="TextBox 24">
                      <a:extLst>
                        <a:ext uri="{FF2B5EF4-FFF2-40B4-BE49-F238E27FC236}">
                          <a16:creationId xmlns:a16="http://schemas.microsoft.com/office/drawing/2014/main" id="{47788BD0-FC20-9157-F07B-4A301D0EE30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84233" y="2277603"/>
                      <a:ext cx="1398086" cy="43088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100" dirty="0"/>
                        <a:t>P&lt; 5e-8 with at least one risk factor</a:t>
                      </a:r>
                    </a:p>
                  </p:txBody>
                </p:sp>
                <p:sp>
                  <p:nvSpPr>
                    <p:cNvPr id="28" name="TextBox 27">
                      <a:extLst>
                        <a:ext uri="{FF2B5EF4-FFF2-40B4-BE49-F238E27FC236}">
                          <a16:creationId xmlns:a16="http://schemas.microsoft.com/office/drawing/2014/main" id="{8CC4976A-3D16-0DF6-4827-35C6F32716A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01533" y="2680215"/>
                      <a:ext cx="1313307" cy="43088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100"/>
                        <a:t>LD-based clumping</a:t>
                      </a:r>
                    </a:p>
                  </p:txBody>
                </p:sp>
                <p:cxnSp>
                  <p:nvCxnSpPr>
                    <p:cNvPr id="29" name="Straight Arrow Connector 28">
                      <a:extLst>
                        <a:ext uri="{FF2B5EF4-FFF2-40B4-BE49-F238E27FC236}">
                          <a16:creationId xmlns:a16="http://schemas.microsoft.com/office/drawing/2014/main" id="{FC486B2E-A793-C6EC-5F53-F5606C24CD75}"/>
                        </a:ext>
                      </a:extLst>
                    </p:cNvPr>
                    <p:cNvCxnSpPr>
                      <a:cxnSpLocks/>
                      <a:stCxn id="25" idx="3"/>
                    </p:cNvCxnSpPr>
                    <p:nvPr/>
                  </p:nvCxnSpPr>
                  <p:spPr>
                    <a:xfrm>
                      <a:off x="1682319" y="2493047"/>
                      <a:ext cx="176746" cy="97250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1" name="Straight Arrow Connector 30">
                      <a:extLst>
                        <a:ext uri="{FF2B5EF4-FFF2-40B4-BE49-F238E27FC236}">
                          <a16:creationId xmlns:a16="http://schemas.microsoft.com/office/drawing/2014/main" id="{81C9D360-327D-047B-BA78-88575A14449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1668988" y="2781536"/>
                      <a:ext cx="190179" cy="117966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37" name="Oval 36">
                      <a:extLst>
                        <a:ext uri="{FF2B5EF4-FFF2-40B4-BE49-F238E27FC236}">
                          <a16:creationId xmlns:a16="http://schemas.microsoft.com/office/drawing/2014/main" id="{2567280E-D499-9D58-284E-AF1358F3CE5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922774" y="2434193"/>
                      <a:ext cx="881095" cy="485812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100">
                          <a:solidFill>
                            <a:schemeClr val="accent1"/>
                          </a:solidFill>
                        </a:rPr>
                        <a:t>p SNPs</a:t>
                      </a:r>
                    </a:p>
                  </p:txBody>
                </p:sp>
                <p:sp>
                  <p:nvSpPr>
                    <p:cNvPr id="38" name="Rounded Rectangle 37">
                      <a:extLst>
                        <a:ext uri="{FF2B5EF4-FFF2-40B4-BE49-F238E27FC236}">
                          <a16:creationId xmlns:a16="http://schemas.microsoft.com/office/drawing/2014/main" id="{F59068F9-B26E-9929-71EC-0C6BBC7DF04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2985" y="3124687"/>
                      <a:ext cx="1598231" cy="464690"/>
                    </a:xfrm>
                    <a:prstGeom prst="roundRect">
                      <a:avLst/>
                    </a:prstGeom>
                    <a:solidFill>
                      <a:srgbClr val="E2F2FF">
                        <a:alpha val="29643"/>
                      </a:srgb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en-US" sz="1100"/>
                    </a:p>
                  </p:txBody>
                </p:sp>
                <p:sp>
                  <p:nvSpPr>
                    <p:cNvPr id="39" name="TextBox 38">
                      <a:extLst>
                        <a:ext uri="{FF2B5EF4-FFF2-40B4-BE49-F238E27FC236}">
                          <a16:creationId xmlns:a16="http://schemas.microsoft.com/office/drawing/2014/main" id="{C84705AA-5DFE-1ACB-2B63-549F8450997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17404" y="3120415"/>
                      <a:ext cx="1331373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100" dirty="0"/>
                        <a:t>Exposure datasets</a:t>
                      </a:r>
                    </a:p>
                  </p:txBody>
                </p:sp>
                <p:cxnSp>
                  <p:nvCxnSpPr>
                    <p:cNvPr id="40" name="Straight Arrow Connector 39">
                      <a:extLst>
                        <a:ext uri="{FF2B5EF4-FFF2-40B4-BE49-F238E27FC236}">
                          <a16:creationId xmlns:a16="http://schemas.microsoft.com/office/drawing/2014/main" id="{F1CF2BC8-56ED-30A5-7406-9090A003ADD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954855" y="3451420"/>
                      <a:ext cx="192191" cy="323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41" name="TextBox 40">
                      <a:extLst>
                        <a:ext uri="{FF2B5EF4-FFF2-40B4-BE49-F238E27FC236}">
                          <a16:creationId xmlns:a16="http://schemas.microsoft.com/office/drawing/2014/main" id="{084451DD-A7D1-D464-7DDC-97B80F29AA7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84667" y="3321592"/>
                      <a:ext cx="955743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100" dirty="0">
                          <a:solidFill>
                            <a:schemeClr val="accent1"/>
                          </a:solidFill>
                        </a:rPr>
                        <a:t>Risk factor k</a:t>
                      </a:r>
                    </a:p>
                  </p:txBody>
                </p: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42" name="TextBox 41">
                          <a:extLst>
                            <a:ext uri="{FF2B5EF4-FFF2-40B4-BE49-F238E27FC236}">
                              <a16:creationId xmlns:a16="http://schemas.microsoft.com/office/drawing/2014/main" id="{6CF09BA8-34BB-681F-0788-B2068F622A7C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294804" y="3319433"/>
                          <a:ext cx="775122" cy="275204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1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11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1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𝛾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1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𝑗𝑘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100" dirty="0">
                              <a:solidFill>
                                <a:schemeClr val="accent1"/>
                              </a:solidFill>
                            </a:rPr>
                            <a:t>: SNP</a:t>
                          </a:r>
                          <a:r>
                            <a:rPr lang="en-US" sz="1100" baseline="-25000" dirty="0">
                              <a:solidFill>
                                <a:schemeClr val="accent1"/>
                              </a:solidFill>
                            </a:rPr>
                            <a:t> </a:t>
                          </a:r>
                          <a:r>
                            <a:rPr lang="en-US" sz="1100" dirty="0">
                              <a:solidFill>
                                <a:schemeClr val="accent1"/>
                              </a:solidFill>
                            </a:rPr>
                            <a:t>j</a:t>
                          </a:r>
                          <a:endParaRPr lang="en-US" sz="1100" dirty="0"/>
                        </a:p>
                      </p:txBody>
                    </p:sp>
                  </mc:Choice>
                  <mc:Fallback xmlns="">
                    <p:sp>
                      <p:nvSpPr>
                        <p:cNvPr id="42" name="TextBox 41">
                          <a:extLst>
                            <a:ext uri="{FF2B5EF4-FFF2-40B4-BE49-F238E27FC236}">
                              <a16:creationId xmlns:a16="http://schemas.microsoft.com/office/drawing/2014/main" id="{6CF09BA8-34BB-681F-0788-B2068F622A7C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294804" y="3319433"/>
                          <a:ext cx="775122" cy="275204"/>
                        </a:xfrm>
                        <a:prstGeom prst="rect">
                          <a:avLst/>
                        </a:prstGeom>
                        <a:blipFill>
                          <a:blip r:embed="rId4"/>
                          <a:stretch>
                            <a:fillRect b="-8696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sp>
                  <p:nvSpPr>
                    <p:cNvPr id="43" name="Rounded Rectangle 42">
                      <a:extLst>
                        <a:ext uri="{FF2B5EF4-FFF2-40B4-BE49-F238E27FC236}">
                          <a16:creationId xmlns:a16="http://schemas.microsoft.com/office/drawing/2014/main" id="{0A9E4F21-36BB-767E-11E0-E360AD70712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071377" y="3124687"/>
                      <a:ext cx="1477687" cy="464690"/>
                    </a:xfrm>
                    <a:prstGeom prst="roundRect">
                      <a:avLst/>
                    </a:prstGeom>
                    <a:solidFill>
                      <a:srgbClr val="E2F2FF">
                        <a:alpha val="30448"/>
                      </a:srgb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en-US" sz="1100" dirty="0"/>
                    </a:p>
                  </p:txBody>
                </p:sp>
                <p:sp>
                  <p:nvSpPr>
                    <p:cNvPr id="46" name="TextBox 45">
                      <a:extLst>
                        <a:ext uri="{FF2B5EF4-FFF2-40B4-BE49-F238E27FC236}">
                          <a16:creationId xmlns:a16="http://schemas.microsoft.com/office/drawing/2014/main" id="{B5DD0A98-9B1E-C586-CD3C-78E2AAA98F0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00361" y="1971760"/>
                      <a:ext cx="412879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100"/>
                        <a:t>(b)</a:t>
                      </a:r>
                    </a:p>
                  </p:txBody>
                </p:sp>
              </p:grpSp>
              <p:grpSp>
                <p:nvGrpSpPr>
                  <p:cNvPr id="47" name="Group 46">
                    <a:extLst>
                      <a:ext uri="{FF2B5EF4-FFF2-40B4-BE49-F238E27FC236}">
                        <a16:creationId xmlns:a16="http://schemas.microsoft.com/office/drawing/2014/main" id="{BC561D1F-E61F-28F4-8B75-99AFB74193C3}"/>
                      </a:ext>
                    </a:extLst>
                  </p:cNvPr>
                  <p:cNvGrpSpPr/>
                  <p:nvPr/>
                </p:nvGrpSpPr>
                <p:grpSpPr>
                  <a:xfrm>
                    <a:off x="284232" y="3924824"/>
                    <a:ext cx="6950251" cy="2698571"/>
                    <a:chOff x="284232" y="3924824"/>
                    <a:chExt cx="6950251" cy="2698571"/>
                  </a:xfrm>
                </p:grpSpPr>
                <p:sp>
                  <p:nvSpPr>
                    <p:cNvPr id="48" name="TextBox 47">
                      <a:extLst>
                        <a:ext uri="{FF2B5EF4-FFF2-40B4-BE49-F238E27FC236}">
                          <a16:creationId xmlns:a16="http://schemas.microsoft.com/office/drawing/2014/main" id="{18D2CFE6-0085-4746-B899-54F155A3B01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99872" y="3989004"/>
                      <a:ext cx="4309019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100" b="1" dirty="0"/>
                        <a:t>MVMR-PACS for causal risk factor and signal-group identification</a:t>
                      </a:r>
                    </a:p>
                  </p:txBody>
                </p:sp>
                <p:grpSp>
                  <p:nvGrpSpPr>
                    <p:cNvPr id="50" name="Group 49">
                      <a:extLst>
                        <a:ext uri="{FF2B5EF4-FFF2-40B4-BE49-F238E27FC236}">
                          <a16:creationId xmlns:a16="http://schemas.microsoft.com/office/drawing/2014/main" id="{0E03C664-C817-5629-9390-965484265BE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850638" y="4146959"/>
                      <a:ext cx="4263599" cy="2349694"/>
                      <a:chOff x="2850638" y="4146959"/>
                      <a:chExt cx="4263599" cy="2349694"/>
                    </a:xfrm>
                  </p:grpSpPr>
                  <p:sp>
                    <p:nvSpPr>
                      <p:cNvPr id="54" name="Plus 53">
                        <a:extLst>
                          <a:ext uri="{FF2B5EF4-FFF2-40B4-BE49-F238E27FC236}">
                            <a16:creationId xmlns:a16="http://schemas.microsoft.com/office/drawing/2014/main" id="{2550D43C-2905-AAFB-2A0A-39B26E29732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50638" y="5217365"/>
                        <a:ext cx="197408" cy="165317"/>
                      </a:xfrm>
                      <a:prstGeom prst="mathPlus">
                        <a:avLst/>
                      </a:prstGeom>
                      <a:no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55" name="Right Brace 54">
                        <a:extLst>
                          <a:ext uri="{FF2B5EF4-FFF2-40B4-BE49-F238E27FC236}">
                            <a16:creationId xmlns:a16="http://schemas.microsoft.com/office/drawing/2014/main" id="{CF405F8C-8F5D-884E-3140-BEE91CEF7B2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730098" y="4480146"/>
                        <a:ext cx="95357" cy="512686"/>
                      </a:xfrm>
                      <a:prstGeom prst="rightBrace">
                        <a:avLst/>
                      </a:prstGeom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56" name="Right Brace 55">
                        <a:extLst>
                          <a:ext uri="{FF2B5EF4-FFF2-40B4-BE49-F238E27FC236}">
                            <a16:creationId xmlns:a16="http://schemas.microsoft.com/office/drawing/2014/main" id="{0F0F2687-6FD9-0740-5202-F557AD4AB3E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725215" y="5126389"/>
                        <a:ext cx="108408" cy="846088"/>
                      </a:xfrm>
                      <a:prstGeom prst="rightBrace">
                        <a:avLst/>
                      </a:prstGeom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57" name="Right Brace 56">
                        <a:extLst>
                          <a:ext uri="{FF2B5EF4-FFF2-40B4-BE49-F238E27FC236}">
                            <a16:creationId xmlns:a16="http://schemas.microsoft.com/office/drawing/2014/main" id="{C3CEB8C5-E9F6-7F21-8D58-D9015D4DA24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732455" y="6086570"/>
                        <a:ext cx="103695" cy="148473"/>
                      </a:xfrm>
                      <a:prstGeom prst="rightBrace">
                        <a:avLst/>
                      </a:prstGeom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58" name="Right Brace 57">
                        <a:extLst>
                          <a:ext uri="{FF2B5EF4-FFF2-40B4-BE49-F238E27FC236}">
                            <a16:creationId xmlns:a16="http://schemas.microsoft.com/office/drawing/2014/main" id="{F5C026BB-FD1A-354A-3D8E-FE8D9A93AA6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731187" y="6287817"/>
                        <a:ext cx="114697" cy="148473"/>
                      </a:xfrm>
                      <a:prstGeom prst="rightBrace">
                        <a:avLst/>
                      </a:prstGeom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59" name="TextBox 58">
                        <a:extLst>
                          <a:ext uri="{FF2B5EF4-FFF2-40B4-BE49-F238E27FC236}">
                            <a16:creationId xmlns:a16="http://schemas.microsoft.com/office/drawing/2014/main" id="{9153224D-9D51-BFB5-F3BB-77651B19C8D2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818864" y="4612708"/>
                        <a:ext cx="1257303" cy="2616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sz="1100" b="1"/>
                          <a:t>Signal-group1</a:t>
                        </a:r>
                      </a:p>
                    </p:txBody>
                  </p:sp>
                  <p:sp>
                    <p:nvSpPr>
                      <p:cNvPr id="60" name="TextBox 59">
                        <a:extLst>
                          <a:ext uri="{FF2B5EF4-FFF2-40B4-BE49-F238E27FC236}">
                            <a16:creationId xmlns:a16="http://schemas.microsoft.com/office/drawing/2014/main" id="{F6BF0443-0586-0C55-F3FF-1922E0007869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810118" y="5414155"/>
                        <a:ext cx="1304119" cy="2616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sz="1100" b="1"/>
                          <a:t>non-causal group</a:t>
                        </a:r>
                      </a:p>
                    </p:txBody>
                  </p:sp>
                  <p:sp>
                    <p:nvSpPr>
                      <p:cNvPr id="61" name="TextBox 60">
                        <a:extLst>
                          <a:ext uri="{FF2B5EF4-FFF2-40B4-BE49-F238E27FC236}">
                            <a16:creationId xmlns:a16="http://schemas.microsoft.com/office/drawing/2014/main" id="{FBA59CDF-C33A-A90C-14B3-3413CE18949A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841599" y="6020923"/>
                        <a:ext cx="1241158" cy="2616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sz="1100" b="1" dirty="0"/>
                          <a:t>Signal-group2</a:t>
                        </a:r>
                      </a:p>
                    </p:txBody>
                  </p:sp>
                  <p:sp>
                    <p:nvSpPr>
                      <p:cNvPr id="68" name="TextBox 67">
                        <a:extLst>
                          <a:ext uri="{FF2B5EF4-FFF2-40B4-BE49-F238E27FC236}">
                            <a16:creationId xmlns:a16="http://schemas.microsoft.com/office/drawing/2014/main" id="{2F6844D9-0C50-E9AE-A11B-746BC87864D8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842488" y="6235043"/>
                        <a:ext cx="1164368" cy="2616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sz="1100" b="1" dirty="0"/>
                          <a:t>Signal-group3</a:t>
                        </a:r>
                      </a:p>
                    </p:txBody>
                  </p:sp>
                  <p:pic>
                    <p:nvPicPr>
                      <p:cNvPr id="72" name="Picture 71">
                        <a:extLst>
                          <a:ext uri="{FF2B5EF4-FFF2-40B4-BE49-F238E27FC236}">
                            <a16:creationId xmlns:a16="http://schemas.microsoft.com/office/drawing/2014/main" id="{EF333412-62D7-5B0B-B274-591EE8666FB3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092012" y="4311590"/>
                        <a:ext cx="500676" cy="2130158"/>
                      </a:xfrm>
                      <a:prstGeom prst="rect">
                        <a:avLst/>
                      </a:prstGeom>
                    </p:spPr>
                  </p:pic>
                  <p:sp>
                    <p:nvSpPr>
                      <p:cNvPr id="74" name="Right Arrow 73">
                        <a:extLst>
                          <a:ext uri="{FF2B5EF4-FFF2-40B4-BE49-F238E27FC236}">
                            <a16:creationId xmlns:a16="http://schemas.microsoft.com/office/drawing/2014/main" id="{B2DB5661-D148-3C4C-1012-C00C622B157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697941" y="5229623"/>
                        <a:ext cx="1441813" cy="153059"/>
                      </a:xfrm>
                      <a:prstGeom prst="rightArrow">
                        <a:avLst/>
                      </a:prstGeom>
                      <a:no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78" name="TextBox 77">
                        <a:extLst>
                          <a:ext uri="{FF2B5EF4-FFF2-40B4-BE49-F238E27FC236}">
                            <a16:creationId xmlns:a16="http://schemas.microsoft.com/office/drawing/2014/main" id="{631EF749-F302-93FD-5ED4-09FE6DF25AA0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921200" y="4968013"/>
                        <a:ext cx="995294" cy="2616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sz="1100"/>
                          <a:t>MVMR-PACS</a:t>
                        </a:r>
                      </a:p>
                    </p:txBody>
                  </p:sp>
                  <p:sp>
                    <p:nvSpPr>
                      <p:cNvPr id="81" name="TextBox 80">
                        <a:extLst>
                          <a:ext uri="{FF2B5EF4-FFF2-40B4-BE49-F238E27FC236}">
                            <a16:creationId xmlns:a16="http://schemas.microsoft.com/office/drawing/2014/main" id="{7A347D49-D74B-D8F5-3090-B35EF0676D8F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603654" y="5429076"/>
                        <a:ext cx="1728150" cy="60016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sz="1100"/>
                          <a:t>Grouping based on</a:t>
                        </a:r>
                      </a:p>
                      <a:p>
                        <a:pPr marL="171450" indent="-171450">
                          <a:buFont typeface="Arial" panose="020B0604020202020204" pitchFamily="34" charset="0"/>
                          <a:buChar char="•"/>
                        </a:pPr>
                        <a:r>
                          <a:rPr lang="en-US" sz="1100"/>
                          <a:t>Correlation structure</a:t>
                        </a:r>
                      </a:p>
                      <a:p>
                        <a:pPr marL="171450" indent="-171450">
                          <a:buFont typeface="Arial" panose="020B0604020202020204" pitchFamily="34" charset="0"/>
                          <a:buChar char="•"/>
                        </a:pPr>
                        <a:r>
                          <a:rPr lang="en-US" sz="1100"/>
                          <a:t>True causal effects</a:t>
                        </a:r>
                      </a:p>
                    </p:txBody>
                  </p:sp>
                  <p:pic>
                    <p:nvPicPr>
                      <p:cNvPr id="87" name="Picture 86" descr="A white rectangular object with a black stripe&#10;&#10;AI-generated content may be incorrect.">
                        <a:extLst>
                          <a:ext uri="{FF2B5EF4-FFF2-40B4-BE49-F238E27FC236}">
                            <a16:creationId xmlns:a16="http://schemas.microsoft.com/office/drawing/2014/main" id="{77BB7942-0C06-40E9-98D5-4E25312D3C75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143442" y="4287228"/>
                        <a:ext cx="532539" cy="2190574"/>
                      </a:xfrm>
                      <a:prstGeom prst="rect">
                        <a:avLst/>
                      </a:prstGeom>
                    </p:spPr>
                  </p:pic>
                  <mc:AlternateContent xmlns:mc="http://schemas.openxmlformats.org/markup-compatibility/2006">
                    <mc:Choice xmlns:a14="http://schemas.microsoft.com/office/drawing/2010/main" Requires="a14">
                      <p:sp>
                        <p:nvSpPr>
                          <p:cNvPr id="88" name="TextBox 87">
                            <a:extLst>
                              <a:ext uri="{FF2B5EF4-FFF2-40B4-BE49-F238E27FC236}">
                                <a16:creationId xmlns:a16="http://schemas.microsoft.com/office/drawing/2014/main" id="{99F711E4-B400-1E7B-F651-D488070E134A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4960472" y="4146959"/>
                            <a:ext cx="985501" cy="319446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/>
                            <a14:m>
                              <m:oMathPara xmlns:m="http://schemas.openxmlformats.org/officeDocument/2006/math">
                                <m:oMathParaPr>
                                  <m:jc m:val="centerGroup"/>
                                </m:oMathParaPr>
                                <m:oMath xmlns:m="http://schemas.openxmlformats.org/officeDocument/2006/math">
                                  <m:sSub>
                                    <m:sSubPr>
                                      <m:ctrlP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1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400" b="0" i="1" smtClean="0">
                                              <a:latin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𝑃𝐴𝐶𝑆</m:t>
                                      </m:r>
                                    </m:sub>
                                  </m:sSub>
                                </m:oMath>
                              </m:oMathPara>
                            </a14:m>
                            <a:endParaRPr lang="en-US" sz="1400" dirty="0"/>
                          </a:p>
                        </p:txBody>
                      </p:sp>
                    </mc:Choice>
                    <mc:Fallback>
                      <p:sp>
                        <p:nvSpPr>
                          <p:cNvPr id="88" name="TextBox 87">
                            <a:extLst>
                              <a:ext uri="{FF2B5EF4-FFF2-40B4-BE49-F238E27FC236}">
                                <a16:creationId xmlns:a16="http://schemas.microsoft.com/office/drawing/2014/main" id="{99F711E4-B400-1E7B-F651-D488070E134A}"/>
                              </a:ext>
                            </a:extLst>
                          </p:cNvPr>
                          <p:cNvSpPr txBox="1"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4960472" y="4146959"/>
                            <a:ext cx="985501" cy="319446"/>
                          </a:xfrm>
                          <a:prstGeom prst="rect">
                            <a:avLst/>
                          </a:prstGeom>
                          <a:blipFill>
                            <a:blip r:embed="rId7"/>
                            <a:stretch>
                              <a:fillRect b="-11538"/>
                            </a:stretch>
                          </a:blipFill>
                        </p:spPr>
                        <p:txBody>
                          <a:bodyPr/>
                          <a:lstStyle/>
                          <a:p>
                            <a:r>
                              <a:rPr lang="en-US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</p:grpSp>
                <p:sp>
                  <p:nvSpPr>
                    <p:cNvPr id="51" name="Rounded Rectangle 50">
                      <a:extLst>
                        <a:ext uri="{FF2B5EF4-FFF2-40B4-BE49-F238E27FC236}">
                          <a16:creationId xmlns:a16="http://schemas.microsoft.com/office/drawing/2014/main" id="{A50202C4-3F7B-6163-9BEC-66B8D88A46B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4232" y="3924824"/>
                      <a:ext cx="6950251" cy="2698571"/>
                    </a:xfrm>
                    <a:prstGeom prst="roundRect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52" name="TextBox 51">
                      <a:extLst>
                        <a:ext uri="{FF2B5EF4-FFF2-40B4-BE49-F238E27FC236}">
                          <a16:creationId xmlns:a16="http://schemas.microsoft.com/office/drawing/2014/main" id="{0E1C440C-19FF-D215-2F2E-FDA470BB5D4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00361" y="4049980"/>
                      <a:ext cx="412879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100"/>
                        <a:t>(c)</a:t>
                      </a:r>
                    </a:p>
                  </p:txBody>
                </p:sp>
              </p:grpSp>
              <p:grpSp>
                <p:nvGrpSpPr>
                  <p:cNvPr id="90" name="Group 89">
                    <a:extLst>
                      <a:ext uri="{FF2B5EF4-FFF2-40B4-BE49-F238E27FC236}">
                        <a16:creationId xmlns:a16="http://schemas.microsoft.com/office/drawing/2014/main" id="{932C46F9-4F5A-F816-7D26-95F641F4D7DA}"/>
                      </a:ext>
                    </a:extLst>
                  </p:cNvPr>
                  <p:cNvGrpSpPr/>
                  <p:nvPr/>
                </p:nvGrpSpPr>
                <p:grpSpPr>
                  <a:xfrm>
                    <a:off x="3697942" y="222640"/>
                    <a:ext cx="3602011" cy="3620772"/>
                    <a:chOff x="3697942" y="222640"/>
                    <a:chExt cx="3602011" cy="3620772"/>
                  </a:xfrm>
                </p:grpSpPr>
                <p:sp>
                  <p:nvSpPr>
                    <p:cNvPr id="92" name="Rounded Rectangle 91">
                      <a:extLst>
                        <a:ext uri="{FF2B5EF4-FFF2-40B4-BE49-F238E27FC236}">
                          <a16:creationId xmlns:a16="http://schemas.microsoft.com/office/drawing/2014/main" id="{8488C281-2171-198A-1367-A8C8A97E629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97942" y="222640"/>
                      <a:ext cx="3536541" cy="3620772"/>
                    </a:xfrm>
                    <a:prstGeom prst="roundRect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00" name="TextBox 99">
                      <a:extLst>
                        <a:ext uri="{FF2B5EF4-FFF2-40B4-BE49-F238E27FC236}">
                          <a16:creationId xmlns:a16="http://schemas.microsoft.com/office/drawing/2014/main" id="{B13FDA58-5F10-4C78-F715-0AE02C1029E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552417" y="238350"/>
                      <a:ext cx="1837944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100" b="1" dirty="0"/>
                        <a:t> Data thinning for MVMR</a:t>
                      </a:r>
                    </a:p>
                  </p:txBody>
                </p: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102" name="TextBox 101">
                          <a:extLst>
                            <a:ext uri="{FF2B5EF4-FFF2-40B4-BE49-F238E27FC236}">
                              <a16:creationId xmlns:a16="http://schemas.microsoft.com/office/drawing/2014/main" id="{C216AD65-2091-441F-4771-EA420DCFD61F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4107656" y="492487"/>
                          <a:ext cx="2691134" cy="292965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r>
                            <a:rPr lang="en-US" sz="1100" dirty="0"/>
                            <a:t>Summary data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1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11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100" b="1" i="1" smtClean="0">
                                              <a:latin typeface="Cambria Math" panose="02040503050406030204" pitchFamily="18" charset="0"/>
                                            </a:rPr>
                                            <m:t>𝜸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11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11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11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100" b="0" i="0" smtClean="0">
                                              <a:latin typeface="Cambria Math" panose="02040503050406030204" pitchFamily="18" charset="0"/>
                                            </a:rPr>
                                            <m:t>Γ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11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sSub>
                                    <m:sSubPr>
                                      <m:ctrlPr>
                                        <a:rPr lang="en-US" sz="11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100" b="0" i="0" smtClean="0">
                                          <a:latin typeface="Cambria Math" panose="02040503050406030204" pitchFamily="18" charset="0"/>
                                        </a:rPr>
                                        <m:t>Σ</m:t>
                                      </m:r>
                                    </m:e>
                                    <m:sub>
                                      <m:r>
                                        <a:rPr lang="en-US" sz="1100" b="0" i="1" smtClean="0">
                                          <a:latin typeface="Cambria Math" panose="02040503050406030204" pitchFamily="18" charset="0"/>
                                        </a:rPr>
                                        <m:t>𝑋𝑗</m:t>
                                      </m:r>
                                    </m:sub>
                                  </m:sSub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Sup>
                                    <m:sSubSupPr>
                                      <m:ctrlPr>
                                        <a:rPr lang="en-US" sz="11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1100" b="0" i="1" smtClean="0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n-US" sz="1100" b="0" i="1" smtClean="0">
                                          <a:latin typeface="Cambria Math" panose="02040503050406030204" pitchFamily="18" charset="0"/>
                                        </a:rPr>
                                        <m:t>𝑌𝑗</m:t>
                                      </m:r>
                                    </m:sub>
                                    <m:sup>
                                      <m:r>
                                        <a:rPr lang="en-US" sz="11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d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=1,…,</m:t>
                              </m:r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endParaRPr lang="en-US" sz="1100" dirty="0"/>
                        </a:p>
                      </p:txBody>
                    </p:sp>
                  </mc:Choice>
                  <mc:Fallback xmlns="">
                    <p:sp>
                      <p:nvSpPr>
                        <p:cNvPr id="86" name="TextBox 85">
                          <a:extLst>
                            <a:ext uri="{FF2B5EF4-FFF2-40B4-BE49-F238E27FC236}">
                              <a16:creationId xmlns:a16="http://schemas.microsoft.com/office/drawing/2014/main" id="{1B6ABDF8-4EC6-5ACE-61E8-F7120C68856B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4107656" y="492487"/>
                          <a:ext cx="2691134" cy="292965"/>
                        </a:xfrm>
                        <a:prstGeom prst="rect">
                          <a:avLst/>
                        </a:prstGeom>
                        <a:blipFill>
                          <a:blip r:embed="rId15"/>
                          <a:stretch>
                            <a:fillRect b="-4167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cxnSp>
                  <p:nvCxnSpPr>
                    <p:cNvPr id="103" name="Straight Arrow Connector 102">
                      <a:extLst>
                        <a:ext uri="{FF2B5EF4-FFF2-40B4-BE49-F238E27FC236}">
                          <a16:creationId xmlns:a16="http://schemas.microsoft.com/office/drawing/2014/main" id="{82FEA9F0-AD5A-E277-8D90-06C865DC4C4A}"/>
                        </a:ext>
                      </a:extLst>
                    </p:cNvPr>
                    <p:cNvCxnSpPr>
                      <a:stCxn id="102" idx="2"/>
                    </p:cNvCxnSpPr>
                    <p:nvPr/>
                  </p:nvCxnSpPr>
                  <p:spPr>
                    <a:xfrm flipH="1">
                      <a:off x="4862000" y="785452"/>
                      <a:ext cx="591223" cy="345547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4" name="Straight Arrow Connector 103">
                      <a:extLst>
                        <a:ext uri="{FF2B5EF4-FFF2-40B4-BE49-F238E27FC236}">
                          <a16:creationId xmlns:a16="http://schemas.microsoft.com/office/drawing/2014/main" id="{0D617118-A9A7-6803-4948-1151CAC0E5C3}"/>
                        </a:ext>
                      </a:extLst>
                    </p:cNvPr>
                    <p:cNvCxnSpPr>
                      <a:cxnSpLocks/>
                      <a:stCxn id="102" idx="2"/>
                    </p:cNvCxnSpPr>
                    <p:nvPr/>
                  </p:nvCxnSpPr>
                  <p:spPr>
                    <a:xfrm>
                      <a:off x="5453223" y="785452"/>
                      <a:ext cx="558137" cy="344056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105" name="TextBox 104">
                          <a:extLst>
                            <a:ext uri="{FF2B5EF4-FFF2-40B4-BE49-F238E27FC236}">
                              <a16:creationId xmlns:a16="http://schemas.microsoft.com/office/drawing/2014/main" id="{62D922FC-64A1-1E4C-0185-53547BCCD317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5597316" y="1191600"/>
                          <a:ext cx="1702637" cy="521810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>
                          <a:spAutoFit/>
                        </a:bodyPr>
                        <a:lstStyle/>
                        <a:p>
                          <a:r>
                            <a:rPr lang="en-US" sz="1100" dirty="0"/>
                            <a:t>Data copy 2</a:t>
                          </a: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US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US" sz="11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sz="1100" b="1" i="1" smtClean="0">
                                                <a:latin typeface="Cambria Math" panose="02040503050406030204" pitchFamily="18" charset="0"/>
                                              </a:rPr>
                                              <m:t>𝜸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sz="1100" b="0" i="1" smtClean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  <m:sup>
                                        <m:r>
                                          <a:rPr lang="en-US" sz="1100" b="0" i="1" smtClean="0">
                                            <a:latin typeface="Cambria Math" panose="02040503050406030204" pitchFamily="18" charset="0"/>
                                          </a:rPr>
                                          <m:t>(2)</m:t>
                                        </m:r>
                                      </m:sup>
                                    </m:sSubSup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Sup>
                                      <m:sSubSupPr>
                                        <m:ctrlPr>
                                          <a:rPr lang="en-US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US" sz="11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1100" b="0" i="0" smtClean="0">
                                                <a:latin typeface="Cambria Math" panose="02040503050406030204" pitchFamily="18" charset="0"/>
                                              </a:rPr>
                                              <m:t>Γ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sz="1100" b="0" i="1" smtClean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  <m:sup>
                                        <m:r>
                                          <a:rPr lang="en-US" sz="1100" b="0" i="1" smtClean="0">
                                            <a:latin typeface="Cambria Math" panose="02040503050406030204" pitchFamily="18" charset="0"/>
                                          </a:rPr>
                                          <m:t>(2)</m:t>
                                        </m:r>
                                      </m:sup>
                                    </m:sSubSup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sSubSup>
                                      <m:sSubSupPr>
                                        <m:ctrlPr>
                                          <a:rPr lang="en-US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100" b="0" i="0" smtClean="0">
                                            <a:latin typeface="Cambria Math" panose="02040503050406030204" pitchFamily="18" charset="0"/>
                                          </a:rPr>
                                          <m:t>Σ</m:t>
                                        </m:r>
                                      </m:e>
                                      <m:sub>
                                        <m:r>
                                          <a:rPr lang="en-US" sz="1100" b="0" i="1" smtClean="0">
                                            <a:latin typeface="Cambria Math" panose="02040503050406030204" pitchFamily="18" charset="0"/>
                                          </a:rPr>
                                          <m:t>𝑋𝑗</m:t>
                                        </m:r>
                                      </m:sub>
                                      <m:sup>
                                        <m:r>
                                          <a:rPr lang="en-US" sz="1100" b="0" i="1" smtClean="0">
                                            <a:latin typeface="Cambria Math" panose="02040503050406030204" pitchFamily="18" charset="0"/>
                                          </a:rPr>
                                          <m:t>(2)</m:t>
                                        </m:r>
                                      </m:sup>
                                    </m:sSubSup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p>
                                      <m:sSupPr>
                                        <m:ctrlPr>
                                          <a:rPr lang="en-US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bSup>
                                          <m:sSubSupPr>
                                            <m:ctrlPr>
                                              <a:rPr lang="en-US" sz="11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sz="11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𝜎</m:t>
                                            </m:r>
                                          </m:e>
                                          <m:sub>
                                            <m:r>
                                              <a:rPr lang="en-US" sz="11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𝑌𝑗</m:t>
                                            </m:r>
                                          </m:sub>
                                          <m:sup>
                                            <m:r>
                                              <a:rPr lang="en-US" sz="1100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bSup>
                                      </m:e>
                                      <m:sup>
                                        <m:r>
                                          <a:rPr lang="en-US" sz="1100" b="0" i="1" smtClean="0">
                                            <a:latin typeface="Cambria Math" panose="02040503050406030204" pitchFamily="18" charset="0"/>
                                          </a:rPr>
                                          <m:t>(2)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en-US" sz="1100" dirty="0"/>
                        </a:p>
                      </p:txBody>
                    </p:sp>
                  </mc:Choice>
                  <mc:Fallback xmlns="">
                    <p:sp>
                      <p:nvSpPr>
                        <p:cNvPr id="94" name="TextBox 93">
                          <a:extLst>
                            <a:ext uri="{FF2B5EF4-FFF2-40B4-BE49-F238E27FC236}">
                              <a16:creationId xmlns:a16="http://schemas.microsoft.com/office/drawing/2014/main" id="{EDED9D4D-BE4C-2AC2-B498-03940C5CFE88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5597316" y="1191600"/>
                          <a:ext cx="1702637" cy="521810"/>
                        </a:xfrm>
                        <a:prstGeom prst="rect">
                          <a:avLst/>
                        </a:prstGeom>
                        <a:blipFill>
                          <a:blip r:embed="rId16"/>
                          <a:stretch>
                            <a:fillRect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sp>
                  <p:nvSpPr>
                    <p:cNvPr id="116" name="Rounded Rectangle 115">
                      <a:extLst>
                        <a:ext uri="{FF2B5EF4-FFF2-40B4-BE49-F238E27FC236}">
                          <a16:creationId xmlns:a16="http://schemas.microsoft.com/office/drawing/2014/main" id="{A5181F34-5853-C6B0-781A-F3CA143C980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05518" y="1191600"/>
                      <a:ext cx="1418664" cy="557507"/>
                    </a:xfrm>
                    <a:prstGeom prst="roundRect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18" name="Rounded Rectangle 117">
                      <a:extLst>
                        <a:ext uri="{FF2B5EF4-FFF2-40B4-BE49-F238E27FC236}">
                          <a16:creationId xmlns:a16="http://schemas.microsoft.com/office/drawing/2014/main" id="{98978B50-2A3F-2915-CD60-5DB4E3464F4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14910" y="1198606"/>
                      <a:ext cx="1514664" cy="557507"/>
                    </a:xfrm>
                    <a:prstGeom prst="roundRect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19" name="Down Arrow 118">
                      <a:extLst>
                        <a:ext uri="{FF2B5EF4-FFF2-40B4-BE49-F238E27FC236}">
                          <a16:creationId xmlns:a16="http://schemas.microsoft.com/office/drawing/2014/main" id="{672B17DE-7A50-803E-6204-0FF43E729F3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61678" y="1819719"/>
                      <a:ext cx="94355" cy="330801"/>
                    </a:xfrm>
                    <a:prstGeom prst="downArrow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120" name="TextBox 119">
                          <a:extLst>
                            <a:ext uri="{FF2B5EF4-FFF2-40B4-BE49-F238E27FC236}">
                              <a16:creationId xmlns:a16="http://schemas.microsoft.com/office/drawing/2014/main" id="{B231B2E0-333F-C12D-8427-4EF3C5FC9FE9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5264564" y="1290915"/>
                          <a:ext cx="265512" cy="369332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⊥</m:t>
                                </m:r>
                              </m:oMath>
                            </m:oMathPara>
                          </a14:m>
                          <a:endParaRPr lang="en-US"/>
                        </a:p>
                      </p:txBody>
                    </p:sp>
                  </mc:Choice>
                  <mc:Fallback xmlns="">
                    <p:sp>
                      <p:nvSpPr>
                        <p:cNvPr id="98" name="TextBox 97">
                          <a:extLst>
                            <a:ext uri="{FF2B5EF4-FFF2-40B4-BE49-F238E27FC236}">
                              <a16:creationId xmlns:a16="http://schemas.microsoft.com/office/drawing/2014/main" id="{24575AE3-40C7-D4EA-8293-38A809286262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5264564" y="1290915"/>
                          <a:ext cx="265512" cy="369332"/>
                        </a:xfrm>
                        <a:prstGeom prst="rect">
                          <a:avLst/>
                        </a:prstGeom>
                        <a:blipFill>
                          <a:blip r:embed="rId17"/>
                          <a:stretch>
                            <a:fillRect r="-18182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sp>
                  <p:nvSpPr>
                    <p:cNvPr id="121" name="TextBox 120">
                      <a:extLst>
                        <a:ext uri="{FF2B5EF4-FFF2-40B4-BE49-F238E27FC236}">
                          <a16:creationId xmlns:a16="http://schemas.microsoft.com/office/drawing/2014/main" id="{D5BF1933-E177-7DCA-5AE9-BCF97A36588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805518" y="1849421"/>
                      <a:ext cx="995294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100" b="1"/>
                        <a:t>MVMR-PACS</a:t>
                      </a:r>
                    </a:p>
                  </p:txBody>
                </p:sp>
                <p:sp>
                  <p:nvSpPr>
                    <p:cNvPr id="122" name="Right Arrow 121">
                      <a:extLst>
                        <a:ext uri="{FF2B5EF4-FFF2-40B4-BE49-F238E27FC236}">
                          <a16:creationId xmlns:a16="http://schemas.microsoft.com/office/drawing/2014/main" id="{3CB767CB-A4D9-F891-E18C-D38E6EE49F2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289714" y="2928839"/>
                      <a:ext cx="286673" cy="84800"/>
                    </a:xfrm>
                    <a:prstGeom prst="rightArrow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23" name="Rounded Rectangle 122">
                      <a:extLst>
                        <a:ext uri="{FF2B5EF4-FFF2-40B4-BE49-F238E27FC236}">
                          <a16:creationId xmlns:a16="http://schemas.microsoft.com/office/drawing/2014/main" id="{4A6E0706-693E-5315-A489-4B040A439CA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32471" y="2210702"/>
                      <a:ext cx="1418664" cy="1470125"/>
                    </a:xfrm>
                    <a:prstGeom prst="roundRect">
                      <a:avLst/>
                    </a:prstGeom>
                    <a:solidFill>
                      <a:srgbClr val="E2F2FF">
                        <a:alpha val="30415"/>
                      </a:srgb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24" name="Down Arrow 123">
                      <a:extLst>
                        <a:ext uri="{FF2B5EF4-FFF2-40B4-BE49-F238E27FC236}">
                          <a16:creationId xmlns:a16="http://schemas.microsoft.com/office/drawing/2014/main" id="{DDF8DAB0-B8C9-1CF2-318B-5EDAAC1DC6C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11360" y="1813094"/>
                      <a:ext cx="94355" cy="330801"/>
                    </a:xfrm>
                    <a:prstGeom prst="downArrow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25" name="Rounded Rectangle 124">
                      <a:extLst>
                        <a:ext uri="{FF2B5EF4-FFF2-40B4-BE49-F238E27FC236}">
                          <a16:creationId xmlns:a16="http://schemas.microsoft.com/office/drawing/2014/main" id="{84FB14E5-B406-D7F3-DA63-20ABDDEA462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24646" y="2195212"/>
                      <a:ext cx="1515479" cy="1482413"/>
                    </a:xfrm>
                    <a:prstGeom prst="roundRect">
                      <a:avLst/>
                    </a:prstGeom>
                    <a:solidFill>
                      <a:srgbClr val="E2F2FF">
                        <a:alpha val="30000"/>
                      </a:srgb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126" name="TextBox 125">
                          <a:extLst>
                            <a:ext uri="{FF2B5EF4-FFF2-40B4-BE49-F238E27FC236}">
                              <a16:creationId xmlns:a16="http://schemas.microsoft.com/office/drawing/2014/main" id="{72FD18E5-7EBC-27D5-83A8-E10642353418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3805518" y="2253797"/>
                          <a:ext cx="1569198" cy="1446550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r>
                            <a:rPr lang="en-US" sz="1100"/>
                            <a:t>Identify causal risk factors and grouping</a:t>
                          </a:r>
                        </a:p>
                        <a:p>
                          <a:endParaRPr lang="en-US" sz="1100"/>
                        </a:p>
                        <a:p>
                          <a:r>
                            <a:rPr lang="en-US" sz="1100"/>
                            <a:t>Signal-groups:</a:t>
                          </a:r>
                        </a:p>
                        <a:p>
                          <a:r>
                            <a:rPr lang="en-US" sz="1100"/>
                            <a:t>G</a:t>
                          </a:r>
                          <a:r>
                            <a:rPr lang="en-US" sz="1100" baseline="-25000"/>
                            <a:t>1</a:t>
                          </a:r>
                          <a:r>
                            <a:rPr lang="en-US" sz="1100"/>
                            <a:t> = (RF</a:t>
                          </a:r>
                          <a:r>
                            <a:rPr lang="en-US" sz="1100" baseline="-25000"/>
                            <a:t>1</a:t>
                          </a:r>
                          <a:r>
                            <a:rPr lang="en-US" sz="1100"/>
                            <a:t> + RF</a:t>
                          </a:r>
                          <a:r>
                            <a:rPr lang="en-US" sz="1100" baseline="-25000"/>
                            <a:t>2</a:t>
                          </a:r>
                          <a:r>
                            <a:rPr lang="en-US" sz="1100"/>
                            <a:t> + RF</a:t>
                          </a:r>
                          <a:r>
                            <a:rPr lang="en-US" sz="1100" baseline="-25000"/>
                            <a:t>3</a:t>
                          </a:r>
                          <a:r>
                            <a:rPr lang="en-US" sz="1100"/>
                            <a:t>)</a:t>
                          </a:r>
                        </a:p>
                        <a:p>
                          <a:r>
                            <a:rPr lang="en-US" sz="1100"/>
                            <a:t>G</a:t>
                          </a:r>
                          <a:r>
                            <a:rPr lang="en-US" sz="1100" baseline="-25000"/>
                            <a:t>2</a:t>
                          </a:r>
                          <a:r>
                            <a:rPr lang="en-US" sz="1100"/>
                            <a:t> = (RF</a:t>
                          </a:r>
                          <a:r>
                            <a:rPr lang="en-US" sz="1100" baseline="-25000"/>
                            <a:t>4</a:t>
                          </a:r>
                          <a:r>
                            <a:rPr lang="en-US" sz="1100"/>
                            <a:t> - RF</a:t>
                          </a:r>
                          <a:r>
                            <a:rPr lang="en-US" sz="1100" baseline="-25000"/>
                            <a:t>5</a:t>
                          </a:r>
                          <a:r>
                            <a:rPr lang="en-US" sz="1100"/>
                            <a:t>)</a:t>
                          </a: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sz="1100"/>
                        </a:p>
                        <a:p>
                          <a:r>
                            <a:rPr lang="en-US" sz="1100"/>
                            <a:t>G</a:t>
                          </a:r>
                          <a:r>
                            <a:rPr lang="en-US" sz="1100" baseline="-25000"/>
                            <a:t>L </a:t>
                          </a:r>
                          <a:r>
                            <a:rPr lang="en-US" sz="1100"/>
                            <a:t>= (RF</a:t>
                          </a:r>
                          <a:r>
                            <a:rPr lang="en-US" sz="1100" baseline="-25000"/>
                            <a:t>K-1</a:t>
                          </a:r>
                          <a:r>
                            <a:rPr lang="en-US" sz="1100"/>
                            <a:t>+RF</a:t>
                          </a:r>
                          <a:r>
                            <a:rPr lang="en-US" sz="1100" baseline="-25000"/>
                            <a:t>K</a:t>
                          </a:r>
                          <a:r>
                            <a:rPr lang="en-US" sz="1100"/>
                            <a:t>)</a:t>
                          </a:r>
                        </a:p>
                      </p:txBody>
                    </p:sp>
                  </mc:Choice>
                  <mc:Fallback xmlns="">
                    <p:sp>
                      <p:nvSpPr>
                        <p:cNvPr id="109" name="TextBox 108">
                          <a:extLst>
                            <a:ext uri="{FF2B5EF4-FFF2-40B4-BE49-F238E27FC236}">
                              <a16:creationId xmlns:a16="http://schemas.microsoft.com/office/drawing/2014/main" id="{5C9FBB74-D7FC-EDC0-9507-CBFCBE4F2E98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3805518" y="2253797"/>
                          <a:ext cx="1569198" cy="1446550"/>
                        </a:xfrm>
                        <a:prstGeom prst="rect">
                          <a:avLst/>
                        </a:prstGeom>
                        <a:blipFill>
                          <a:blip r:embed="rId18"/>
                          <a:stretch>
                            <a:fillRect b="-1739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sp>
                  <p:nvSpPr>
                    <p:cNvPr id="127" name="TextBox 126">
                      <a:extLst>
                        <a:ext uri="{FF2B5EF4-FFF2-40B4-BE49-F238E27FC236}">
                          <a16:creationId xmlns:a16="http://schemas.microsoft.com/office/drawing/2014/main" id="{32EBEA81-AB20-7232-5E85-DE946FA670C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597316" y="2242086"/>
                      <a:ext cx="1658103" cy="127727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/>
                        <a:t>Estimate causal effects of signal-groups G</a:t>
                      </a:r>
                      <a:r>
                        <a:rPr lang="en-US" sz="1100" baseline="-25000" dirty="0"/>
                        <a:t>1</a:t>
                      </a:r>
                      <a:r>
                        <a:rPr lang="en-US" sz="1100" dirty="0"/>
                        <a:t>,G</a:t>
                      </a:r>
                      <a:r>
                        <a:rPr lang="en-US" sz="1100" baseline="-25000" dirty="0"/>
                        <a:t>2</a:t>
                      </a:r>
                      <a:r>
                        <a:rPr lang="en-US" sz="1100" dirty="0"/>
                        <a:t>,…,G</a:t>
                      </a:r>
                      <a:r>
                        <a:rPr lang="en-US" sz="1100" baseline="-25000" dirty="0"/>
                        <a:t>L</a:t>
                      </a:r>
                      <a:r>
                        <a:rPr lang="en-US" sz="1100" dirty="0"/>
                        <a:t>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/>
                        <a:t>Enlarged IV strength after grouping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/>
                        <a:t>Valid confidence intervals</a:t>
                      </a:r>
                    </a:p>
                  </p:txBody>
                </p:sp>
                <p:sp>
                  <p:nvSpPr>
                    <p:cNvPr id="128" name="TextBox 127">
                      <a:extLst>
                        <a:ext uri="{FF2B5EF4-FFF2-40B4-BE49-F238E27FC236}">
                          <a16:creationId xmlns:a16="http://schemas.microsoft.com/office/drawing/2014/main" id="{7BC7B6E2-552A-C303-3A9F-FDDCE189FC7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087464" y="1843157"/>
                      <a:ext cx="995294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100" b="1"/>
                        <a:t>SRIVW</a:t>
                      </a:r>
                    </a:p>
                  </p:txBody>
                </p:sp>
                <p:sp>
                  <p:nvSpPr>
                    <p:cNvPr id="129" name="TextBox 128">
                      <a:extLst>
                        <a:ext uri="{FF2B5EF4-FFF2-40B4-BE49-F238E27FC236}">
                          <a16:creationId xmlns:a16="http://schemas.microsoft.com/office/drawing/2014/main" id="{0D74EB10-3FF6-AACC-DA05-28E5A381AC0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832471" y="310678"/>
                      <a:ext cx="412879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100"/>
                        <a:t>(d)</a:t>
                      </a:r>
                    </a:p>
                  </p:txBody>
                </p:sp>
              </p:grpSp>
              <p:grpSp>
                <p:nvGrpSpPr>
                  <p:cNvPr id="130" name="Group 129">
                    <a:extLst>
                      <a:ext uri="{FF2B5EF4-FFF2-40B4-BE49-F238E27FC236}">
                        <a16:creationId xmlns:a16="http://schemas.microsoft.com/office/drawing/2014/main" id="{2289A3AB-667F-2A23-598D-28E782322752}"/>
                      </a:ext>
                    </a:extLst>
                  </p:cNvPr>
                  <p:cNvGrpSpPr/>
                  <p:nvPr/>
                </p:nvGrpSpPr>
                <p:grpSpPr>
                  <a:xfrm>
                    <a:off x="273268" y="211950"/>
                    <a:ext cx="3318749" cy="1618737"/>
                    <a:chOff x="273268" y="211950"/>
                    <a:chExt cx="3318749" cy="1618737"/>
                  </a:xfrm>
                </p:grpSpPr>
                <p:sp>
                  <p:nvSpPr>
                    <p:cNvPr id="131" name="Rounded Rectangle 130">
                      <a:extLst>
                        <a:ext uri="{FF2B5EF4-FFF2-40B4-BE49-F238E27FC236}">
                          <a16:creationId xmlns:a16="http://schemas.microsoft.com/office/drawing/2014/main" id="{B820C684-84D3-FC5E-2B0A-E6D3C4BAA29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73268" y="211950"/>
                      <a:ext cx="3318749" cy="1618737"/>
                    </a:xfrm>
                    <a:prstGeom prst="roundRect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32" name="TextBox 131">
                      <a:extLst>
                        <a:ext uri="{FF2B5EF4-FFF2-40B4-BE49-F238E27FC236}">
                          <a16:creationId xmlns:a16="http://schemas.microsoft.com/office/drawing/2014/main" id="{BB5A2390-4479-BADF-A6E2-F1B9A106EFE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323853" y="232644"/>
                      <a:ext cx="1217573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100" b="1"/>
                        <a:t>Causal Diagram</a:t>
                      </a:r>
                    </a:p>
                  </p:txBody>
                </p:sp>
                <p:sp>
                  <p:nvSpPr>
                    <p:cNvPr id="133" name="TextBox 132">
                      <a:extLst>
                        <a:ext uri="{FF2B5EF4-FFF2-40B4-BE49-F238E27FC236}">
                          <a16:creationId xmlns:a16="http://schemas.microsoft.com/office/drawing/2014/main" id="{4E111461-1C50-F8EC-5EFE-63CBB06E23D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00362" y="269239"/>
                      <a:ext cx="412879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100" dirty="0"/>
                        <a:t>(a)</a:t>
                      </a:r>
                    </a:p>
                  </p:txBody>
                </p:sp>
                <p:pic>
                  <p:nvPicPr>
                    <p:cNvPr id="134" name="Picture 133" descr="A diagram of a risk factor&#10;&#10;AI-generated content may be incorrect.">
                      <a:extLst>
                        <a:ext uri="{FF2B5EF4-FFF2-40B4-BE49-F238E27FC236}">
                          <a16:creationId xmlns:a16="http://schemas.microsoft.com/office/drawing/2014/main" id="{D88FDABC-89FC-DBFD-CCB6-3C86085AAB9F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19"/>
                    <a:stretch>
                      <a:fillRect/>
                    </a:stretch>
                  </p:blipFill>
                  <p:spPr>
                    <a:xfrm>
                      <a:off x="649556" y="436764"/>
                      <a:ext cx="2409019" cy="1366632"/>
                    </a:xfrm>
                    <a:prstGeom prst="rect">
                      <a:avLst/>
                    </a:prstGeom>
                  </p:spPr>
                </p:pic>
              </p:grpSp>
            </p:grpSp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8CF6EDB7-A7E4-89CC-0E9A-1C19F5E41856}"/>
                    </a:ext>
                  </a:extLst>
                </p:cNvPr>
                <p:cNvSpPr txBox="1"/>
                <p:nvPr/>
              </p:nvSpPr>
              <p:spPr>
                <a:xfrm>
                  <a:off x="2196841" y="3125831"/>
                  <a:ext cx="18845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100" dirty="0"/>
                    <a:t>Outcome dataset</a:t>
                  </a:r>
                </a:p>
              </p:txBody>
            </p:sp>
          </p:grp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7D079EE-C180-621C-6B30-EB1C047AC0C5}"/>
                  </a:ext>
                </a:extLst>
              </p:cNvPr>
              <p:cNvSpPr txBox="1"/>
              <p:nvPr/>
            </p:nvSpPr>
            <p:spPr>
              <a:xfrm>
                <a:off x="2746652" y="3323018"/>
                <a:ext cx="762216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>
                    <a:solidFill>
                      <a:schemeClr val="accent1"/>
                    </a:solidFill>
                  </a:rPr>
                  <a:t>Outcome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FED2FF39-9F68-33E6-CF31-F9F1ADD9863A}"/>
                      </a:ext>
                    </a:extLst>
                  </p:cNvPr>
                  <p:cNvSpPr txBox="1"/>
                  <p:nvPr/>
                </p:nvSpPr>
                <p:spPr>
                  <a:xfrm>
                    <a:off x="1963833" y="3312208"/>
                    <a:ext cx="674051" cy="28405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1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11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en-US" sz="1100" b="0" i="0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Γ</m:t>
                                </m:r>
                              </m:e>
                            </m:acc>
                          </m:e>
                          <m:sub>
                            <m:r>
                              <a:rPr lang="en-US" sz="11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a14:m>
                    <a:r>
                      <a:rPr lang="en-US" sz="1100" dirty="0">
                        <a:solidFill>
                          <a:schemeClr val="accent1"/>
                        </a:solidFill>
                      </a:rPr>
                      <a:t>: SNP</a:t>
                    </a:r>
                    <a:r>
                      <a:rPr lang="en-US" sz="1100" baseline="-25000" dirty="0">
                        <a:solidFill>
                          <a:schemeClr val="accent1"/>
                        </a:solidFill>
                      </a:rPr>
                      <a:t> </a:t>
                    </a:r>
                    <a:r>
                      <a:rPr lang="en-US" sz="1100" dirty="0">
                        <a:solidFill>
                          <a:schemeClr val="accent1"/>
                        </a:solidFill>
                      </a:rPr>
                      <a:t>j</a:t>
                    </a:r>
                    <a:endParaRPr lang="en-US" sz="1100" dirty="0"/>
                  </a:p>
                </p:txBody>
              </p:sp>
            </mc:Choice>
            <mc:Fallback xmlns="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FED2FF39-9F68-33E6-CF31-F9F1ADD9863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63833" y="3312208"/>
                    <a:ext cx="674051" cy="284052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 b="-8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F1601EE8-C2BF-7C58-4470-15B8DF88C78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03232" y="3460210"/>
                <a:ext cx="18185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6D24E689-A897-7662-EE11-286B5302FDE2}"/>
                    </a:ext>
                  </a:extLst>
                </p:cNvPr>
                <p:cNvSpPr txBox="1"/>
                <p:nvPr/>
              </p:nvSpPr>
              <p:spPr>
                <a:xfrm>
                  <a:off x="3235456" y="4179288"/>
                  <a:ext cx="27276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6D24E689-A897-7662-EE11-286B5302FD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35456" y="4179288"/>
                  <a:ext cx="272768" cy="307777"/>
                </a:xfrm>
                <a:prstGeom prst="rect">
                  <a:avLst/>
                </a:prstGeom>
                <a:blipFill>
                  <a:blip r:embed="rId21"/>
                  <a:stretch>
                    <a:fillRect r="-13636" b="-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238940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2A98F0A-8EF2-EEFF-0A34-81AE8AF09EF3}"/>
              </a:ext>
            </a:extLst>
          </p:cNvPr>
          <p:cNvSpPr txBox="1"/>
          <p:nvPr/>
        </p:nvSpPr>
        <p:spPr>
          <a:xfrm>
            <a:off x="3760561" y="0"/>
            <a:ext cx="18379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 Data thinning for MVMR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FB01E36-F0B7-FA76-E7BE-720BE0E0F154}"/>
                  </a:ext>
                </a:extLst>
              </p:cNvPr>
              <p:cNvSpPr txBox="1"/>
              <p:nvPr/>
            </p:nvSpPr>
            <p:spPr>
              <a:xfrm>
                <a:off x="3315800" y="254137"/>
                <a:ext cx="2691134" cy="2929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/>
                  <a:t>Summary data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100" b="1" i="1" smtClean="0">
                                    <a:latin typeface="Cambria Math" panose="02040503050406030204" pitchFamily="18" charset="0"/>
                                  </a:rPr>
                                  <m:t>𝜸</m:t>
                                </m:r>
                              </m:e>
                            </m:acc>
                          </m:e>
                          <m:sub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en-US" sz="1100" b="0" i="0" smtClean="0">
                                    <a:latin typeface="Cambria Math" panose="02040503050406030204" pitchFamily="18" charset="0"/>
                                  </a:rPr>
                                  <m:t>Γ</m:t>
                                </m:r>
                              </m:e>
                            </m:acc>
                          </m:e>
                          <m:sub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100" b="0" i="0" smtClean="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𝑋𝑗</m:t>
                            </m:r>
                          </m:sub>
                        </m:sSub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𝑌𝑗</m:t>
                            </m:r>
                          </m:sub>
                          <m:sup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en-US" sz="11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1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1100" b="0" i="1" smtClean="0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en-US" sz="11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sz="11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FB01E36-F0B7-FA76-E7BE-720BE0E0F1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5800" y="254137"/>
                <a:ext cx="2691134" cy="292965"/>
              </a:xfrm>
              <a:prstGeom prst="rect">
                <a:avLst/>
              </a:prstGeom>
              <a:blipFill>
                <a:blip r:embed="rId2"/>
                <a:stretch>
                  <a:fillRect b="-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DF7D317-8905-53C1-B16C-44FA28968213}"/>
              </a:ext>
            </a:extLst>
          </p:cNvPr>
          <p:cNvCxnSpPr>
            <a:stCxn id="5" idx="2"/>
          </p:cNvCxnSpPr>
          <p:nvPr/>
        </p:nvCxnSpPr>
        <p:spPr>
          <a:xfrm flipH="1">
            <a:off x="4070144" y="547102"/>
            <a:ext cx="591223" cy="3455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E0D7160-FE30-FC52-F56C-28DBEACA7DD6}"/>
              </a:ext>
            </a:extLst>
          </p:cNvPr>
          <p:cNvCxnSpPr>
            <a:stCxn id="5" idx="2"/>
          </p:cNvCxnSpPr>
          <p:nvPr/>
        </p:nvCxnSpPr>
        <p:spPr>
          <a:xfrm>
            <a:off x="4661367" y="547102"/>
            <a:ext cx="690730" cy="3327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563C1D9-4B9B-64D2-CE35-36BF52A17862}"/>
                  </a:ext>
                </a:extLst>
              </p:cNvPr>
              <p:cNvSpPr txBox="1"/>
              <p:nvPr/>
            </p:nvSpPr>
            <p:spPr>
              <a:xfrm>
                <a:off x="2958730" y="955526"/>
                <a:ext cx="1702637" cy="5218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100"/>
                  <a:t>Data copy 1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̂"/>
                                  <m:ctrl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100" b="1" i="1" smtClean="0">
                                      <a:latin typeface="Cambria Math" panose="02040503050406030204" pitchFamily="18" charset="0"/>
                                    </a:rPr>
                                    <m:t>𝜸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(1)</m:t>
                              </m:r>
                            </m:sup>
                          </m:sSubSup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̂"/>
                                  <m:ctrl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100" b="0" i="0" smtClean="0">
                                      <a:latin typeface="Cambria Math" panose="02040503050406030204" pitchFamily="18" charset="0"/>
                                    </a:rPr>
                                    <m:t>Γ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(1)</m:t>
                              </m:r>
                            </m:sup>
                          </m:sSubSup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Sup>
                            <m:sSubSupPr>
                              <m:ctrlP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1100" b="0" i="0" smtClean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𝑋𝑗</m:t>
                              </m:r>
                            </m:sub>
                            <m:sup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(1)</m:t>
                              </m:r>
                            </m:sup>
                          </m:sSubSup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Sup>
                                <m:sSubSupPr>
                                  <m:ctrl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𝑌𝑗</m:t>
                                  </m:r>
                                </m:sub>
                                <m:sup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  <m:sup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(1)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110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563C1D9-4B9B-64D2-CE35-36BF52A178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8730" y="955526"/>
                <a:ext cx="1702637" cy="5218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DCB24CB-790A-E6D7-A729-4053DE4BD1E9}"/>
                  </a:ext>
                </a:extLst>
              </p:cNvPr>
              <p:cNvSpPr txBox="1"/>
              <p:nvPr/>
            </p:nvSpPr>
            <p:spPr>
              <a:xfrm>
                <a:off x="4805460" y="953250"/>
                <a:ext cx="1702637" cy="5218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100"/>
                  <a:t>Data copy 2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̂"/>
                                  <m:ctrl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100" b="1" i="1" smtClean="0">
                                      <a:latin typeface="Cambria Math" panose="02040503050406030204" pitchFamily="18" charset="0"/>
                                    </a:rPr>
                                    <m:t>𝜸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(2)</m:t>
                              </m:r>
                            </m:sup>
                          </m:sSubSup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̂"/>
                                  <m:ctrl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100" b="0" i="0" smtClean="0">
                                      <a:latin typeface="Cambria Math" panose="02040503050406030204" pitchFamily="18" charset="0"/>
                                    </a:rPr>
                                    <m:t>Γ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(2)</m:t>
                              </m:r>
                            </m:sup>
                          </m:sSubSup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Sup>
                            <m:sSubSupPr>
                              <m:ctrlP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1100" b="0" i="0" smtClean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𝑋𝑗</m:t>
                              </m:r>
                            </m:sub>
                            <m:sup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(2)</m:t>
                              </m:r>
                            </m:sup>
                          </m:sSubSup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Sup>
                                <m:sSubSupPr>
                                  <m:ctrl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𝑌𝑗</m:t>
                                  </m:r>
                                </m:sub>
                                <m:sup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  <m:sup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(2)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110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DCB24CB-790A-E6D7-A729-4053DE4BD1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5460" y="953250"/>
                <a:ext cx="1702637" cy="5218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Down Arrow 9">
            <a:extLst>
              <a:ext uri="{FF2B5EF4-FFF2-40B4-BE49-F238E27FC236}">
                <a16:creationId xmlns:a16="http://schemas.microsoft.com/office/drawing/2014/main" id="{095EBAA2-DE6A-8947-EB7B-B6C4320426C0}"/>
              </a:ext>
            </a:extLst>
          </p:cNvPr>
          <p:cNvSpPr/>
          <p:nvPr/>
        </p:nvSpPr>
        <p:spPr>
          <a:xfrm>
            <a:off x="3969822" y="1581369"/>
            <a:ext cx="94355" cy="330801"/>
          </a:xfrm>
          <a:prstGeom prst="down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DD94B78-F240-4A1C-4723-1C6F939E6024}"/>
                  </a:ext>
                </a:extLst>
              </p:cNvPr>
              <p:cNvSpPr txBox="1"/>
              <p:nvPr/>
            </p:nvSpPr>
            <p:spPr>
              <a:xfrm>
                <a:off x="4472708" y="1052565"/>
                <a:ext cx="26551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⊥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DD94B78-F240-4A1C-4723-1C6F939E60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2708" y="1052565"/>
                <a:ext cx="265512" cy="369332"/>
              </a:xfrm>
              <a:prstGeom prst="rect">
                <a:avLst/>
              </a:prstGeom>
              <a:blipFill>
                <a:blip r:embed="rId5"/>
                <a:stretch>
                  <a:fillRect r="-190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B7194279-74C8-B57C-BCF8-C27FF93208D9}"/>
              </a:ext>
            </a:extLst>
          </p:cNvPr>
          <p:cNvSpPr txBox="1"/>
          <p:nvPr/>
        </p:nvSpPr>
        <p:spPr>
          <a:xfrm>
            <a:off x="3013662" y="1611071"/>
            <a:ext cx="9952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/>
              <a:t>MVMR-PACS</a:t>
            </a:r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49D7CFD4-86A5-AA6B-82A8-1778A7F7DC0F}"/>
              </a:ext>
            </a:extLst>
          </p:cNvPr>
          <p:cNvSpPr/>
          <p:nvPr/>
        </p:nvSpPr>
        <p:spPr>
          <a:xfrm>
            <a:off x="4497858" y="2690489"/>
            <a:ext cx="286673" cy="84800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Down Arrow 13">
            <a:extLst>
              <a:ext uri="{FF2B5EF4-FFF2-40B4-BE49-F238E27FC236}">
                <a16:creationId xmlns:a16="http://schemas.microsoft.com/office/drawing/2014/main" id="{42A17D3F-E72A-9B6E-2830-029F27807023}"/>
              </a:ext>
            </a:extLst>
          </p:cNvPr>
          <p:cNvSpPr/>
          <p:nvPr/>
        </p:nvSpPr>
        <p:spPr>
          <a:xfrm>
            <a:off x="5219504" y="1574744"/>
            <a:ext cx="94355" cy="330801"/>
          </a:xfrm>
          <a:prstGeom prst="down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F36EE98-3813-15AB-43C5-2C39015120CD}"/>
                  </a:ext>
                </a:extLst>
              </p:cNvPr>
              <p:cNvSpPr txBox="1"/>
              <p:nvPr/>
            </p:nvSpPr>
            <p:spPr>
              <a:xfrm>
                <a:off x="3826538" y="2169716"/>
                <a:ext cx="1569198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/>
                  <a:t>Identify causal risk factors and grouping</a:t>
                </a:r>
              </a:p>
              <a:p>
                <a:endParaRPr lang="en-US" sz="1100" dirty="0"/>
              </a:p>
              <a:p>
                <a:r>
                  <a:rPr lang="en-US" sz="1100" dirty="0"/>
                  <a:t>Signal-groups:</a:t>
                </a:r>
              </a:p>
              <a:p>
                <a:r>
                  <a:rPr lang="en-US" sz="1100" dirty="0"/>
                  <a:t>G</a:t>
                </a:r>
                <a:r>
                  <a:rPr lang="en-US" sz="1100" baseline="-25000" dirty="0"/>
                  <a:t>1</a:t>
                </a:r>
                <a:r>
                  <a:rPr lang="en-US" sz="1100" dirty="0"/>
                  <a:t> = (RF</a:t>
                </a:r>
                <a:r>
                  <a:rPr lang="en-US" sz="1100" baseline="-25000" dirty="0"/>
                  <a:t>1</a:t>
                </a:r>
                <a:r>
                  <a:rPr lang="en-US" sz="1100" dirty="0"/>
                  <a:t> + RF</a:t>
                </a:r>
                <a:r>
                  <a:rPr lang="en-US" sz="1100" baseline="-25000" dirty="0"/>
                  <a:t>2</a:t>
                </a:r>
                <a:r>
                  <a:rPr lang="en-US" sz="1100" dirty="0"/>
                  <a:t> + RF</a:t>
                </a:r>
                <a:r>
                  <a:rPr lang="en-US" sz="1100" baseline="-25000" dirty="0"/>
                  <a:t>3</a:t>
                </a:r>
                <a:r>
                  <a:rPr lang="en-US" sz="1100" dirty="0"/>
                  <a:t>)</a:t>
                </a:r>
              </a:p>
              <a:p>
                <a:r>
                  <a:rPr lang="en-US" sz="1100" dirty="0"/>
                  <a:t>G</a:t>
                </a:r>
                <a:r>
                  <a:rPr lang="en-US" sz="1100" baseline="-25000" dirty="0"/>
                  <a:t>2</a:t>
                </a:r>
                <a:r>
                  <a:rPr lang="en-US" sz="1100" dirty="0"/>
                  <a:t> = (RF</a:t>
                </a:r>
                <a:r>
                  <a:rPr lang="en-US" sz="1100" baseline="-25000" dirty="0"/>
                  <a:t>4</a:t>
                </a:r>
                <a:r>
                  <a:rPr lang="en-US" sz="1100" dirty="0"/>
                  <a:t> - RF</a:t>
                </a:r>
                <a:r>
                  <a:rPr lang="en-US" sz="1100" baseline="-25000" dirty="0"/>
                  <a:t>5</a:t>
                </a:r>
                <a:r>
                  <a:rPr lang="en-US" sz="1100" dirty="0"/>
                  <a:t>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1100" dirty="0"/>
              </a:p>
              <a:p>
                <a:r>
                  <a:rPr lang="en-US" sz="1100" dirty="0"/>
                  <a:t>G</a:t>
                </a:r>
                <a:r>
                  <a:rPr lang="en-US" sz="1100" baseline="-25000" dirty="0"/>
                  <a:t>L </a:t>
                </a:r>
                <a:r>
                  <a:rPr lang="en-US" sz="1100" dirty="0"/>
                  <a:t>= (RF</a:t>
                </a:r>
                <a:r>
                  <a:rPr lang="en-US" sz="1100" baseline="-25000" dirty="0"/>
                  <a:t>K-1</a:t>
                </a:r>
                <a:r>
                  <a:rPr lang="en-US" sz="1100" dirty="0"/>
                  <a:t>+RF</a:t>
                </a:r>
                <a:r>
                  <a:rPr lang="en-US" sz="1100" baseline="-25000" dirty="0"/>
                  <a:t>K</a:t>
                </a:r>
                <a:r>
                  <a:rPr lang="en-US" sz="1100" dirty="0"/>
                  <a:t>)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F36EE98-3813-15AB-43C5-2C39015120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6538" y="2169716"/>
                <a:ext cx="1569198" cy="1446550"/>
              </a:xfrm>
              <a:prstGeom prst="rect">
                <a:avLst/>
              </a:prstGeom>
              <a:blipFill>
                <a:blip r:embed="rId6"/>
                <a:stretch>
                  <a:fillRect b="-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00A9C580-ECBB-C4F4-46E0-A4587976E5EA}"/>
              </a:ext>
            </a:extLst>
          </p:cNvPr>
          <p:cNvSpPr txBox="1"/>
          <p:nvPr/>
        </p:nvSpPr>
        <p:spPr>
          <a:xfrm>
            <a:off x="5618336" y="2158005"/>
            <a:ext cx="1658103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Estimate causal effects of signal-groups G</a:t>
            </a:r>
            <a:r>
              <a:rPr lang="en-US" sz="1100" baseline="-25000" dirty="0"/>
              <a:t>1</a:t>
            </a:r>
            <a:r>
              <a:rPr lang="en-US" sz="1100" dirty="0"/>
              <a:t>,G</a:t>
            </a:r>
            <a:r>
              <a:rPr lang="en-US" sz="1100" baseline="-25000" dirty="0"/>
              <a:t>2</a:t>
            </a:r>
            <a:r>
              <a:rPr lang="en-US" sz="1100" dirty="0"/>
              <a:t>,…,G</a:t>
            </a:r>
            <a:r>
              <a:rPr lang="en-US" sz="1100" baseline="-25000" dirty="0"/>
              <a:t>L</a:t>
            </a:r>
            <a:r>
              <a:rPr lang="en-US" sz="1100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Enlarged IV strength after grouping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Valid confidence intervals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81F85C0-9E5B-330D-3D69-21CB80C07B2D}"/>
              </a:ext>
            </a:extLst>
          </p:cNvPr>
          <p:cNvSpPr txBox="1"/>
          <p:nvPr/>
        </p:nvSpPr>
        <p:spPr>
          <a:xfrm>
            <a:off x="5295608" y="1604807"/>
            <a:ext cx="9952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/>
              <a:t>SRIVW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C368D26-9C68-AA10-5F34-96C9E1E856CF}"/>
              </a:ext>
            </a:extLst>
          </p:cNvPr>
          <p:cNvSpPr/>
          <p:nvPr/>
        </p:nvSpPr>
        <p:spPr>
          <a:xfrm>
            <a:off x="2996068" y="965135"/>
            <a:ext cx="1418664" cy="55750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F4F651B8-8C3B-C547-AB1B-D3387FC3AC02}"/>
              </a:ext>
            </a:extLst>
          </p:cNvPr>
          <p:cNvSpPr/>
          <p:nvPr/>
        </p:nvSpPr>
        <p:spPr>
          <a:xfrm>
            <a:off x="4805460" y="972141"/>
            <a:ext cx="1514664" cy="55750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E8FE481B-46E0-509A-B5B5-E647F35F1831}"/>
              </a:ext>
            </a:extLst>
          </p:cNvPr>
          <p:cNvSpPr/>
          <p:nvPr/>
        </p:nvSpPr>
        <p:spPr>
          <a:xfrm>
            <a:off x="3023021" y="1984237"/>
            <a:ext cx="1418664" cy="1470125"/>
          </a:xfrm>
          <a:prstGeom prst="roundRect">
            <a:avLst/>
          </a:prstGeom>
          <a:solidFill>
            <a:srgbClr val="E2F2FF">
              <a:alpha val="30415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1618CAC3-7D97-D726-334E-C2DB1E48FEC5}"/>
              </a:ext>
            </a:extLst>
          </p:cNvPr>
          <p:cNvSpPr/>
          <p:nvPr/>
        </p:nvSpPr>
        <p:spPr>
          <a:xfrm>
            <a:off x="4815196" y="1968747"/>
            <a:ext cx="1515479" cy="1482413"/>
          </a:xfrm>
          <a:prstGeom prst="roundRect">
            <a:avLst/>
          </a:prstGeom>
          <a:solidFill>
            <a:srgbClr val="E2F2FF">
              <a:alpha val="3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583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7936AC9F-6008-D6B0-69CB-16CC897FB169}"/>
              </a:ext>
            </a:extLst>
          </p:cNvPr>
          <p:cNvGrpSpPr/>
          <p:nvPr/>
        </p:nvGrpSpPr>
        <p:grpSpPr>
          <a:xfrm>
            <a:off x="1484450" y="0"/>
            <a:ext cx="8984114" cy="6115050"/>
            <a:chOff x="1484450" y="0"/>
            <a:chExt cx="8984114" cy="6115050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1C927E3-F1AD-F7F3-66EF-0C777C628167}"/>
                </a:ext>
              </a:extLst>
            </p:cNvPr>
            <p:cNvGrpSpPr/>
            <p:nvPr/>
          </p:nvGrpSpPr>
          <p:grpSpPr>
            <a:xfrm>
              <a:off x="1724722" y="0"/>
              <a:ext cx="8743842" cy="6115050"/>
              <a:chOff x="1724722" y="0"/>
              <a:chExt cx="8743842" cy="6115050"/>
            </a:xfrm>
          </p:grpSpPr>
          <p:pic>
            <p:nvPicPr>
              <p:cNvPr id="5" name="Picture 4" descr="A table of numbers with numbers&#10;&#10;AI-generated content may be incorrect.">
                <a:extLst>
                  <a:ext uri="{FF2B5EF4-FFF2-40B4-BE49-F238E27FC236}">
                    <a16:creationId xmlns:a16="http://schemas.microsoft.com/office/drawing/2014/main" id="{04F20FF5-76AF-0D33-4840-330F64F8A4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891313" y="505838"/>
                <a:ext cx="4577251" cy="5609212"/>
              </a:xfrm>
              <a:prstGeom prst="rect">
                <a:avLst/>
              </a:prstGeom>
            </p:spPr>
          </p:pic>
          <p:pic>
            <p:nvPicPr>
              <p:cNvPr id="7" name="Picture 6" descr="A close-up of a graph&#10;&#10;AI-generated content may be incorrect.">
                <a:extLst>
                  <a:ext uri="{FF2B5EF4-FFF2-40B4-BE49-F238E27FC236}">
                    <a16:creationId xmlns:a16="http://schemas.microsoft.com/office/drawing/2014/main" id="{3BC02AB1-4783-39A6-38E9-E60D6F806D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91448" y="0"/>
                <a:ext cx="3192868" cy="3192868"/>
              </a:xfrm>
              <a:prstGeom prst="rect">
                <a:avLst/>
              </a:prstGeom>
            </p:spPr>
          </p:pic>
          <p:pic>
            <p:nvPicPr>
              <p:cNvPr id="9" name="Picture 8" descr="A computer screen shot of a computer screen&#10;&#10;AI-generated content may be incorrect.">
                <a:extLst>
                  <a:ext uri="{FF2B5EF4-FFF2-40B4-BE49-F238E27FC236}">
                    <a16:creationId xmlns:a16="http://schemas.microsoft.com/office/drawing/2014/main" id="{DAFAC4F1-EAE2-4166-7EFB-64BA4950F7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24722" y="2990107"/>
                <a:ext cx="4166591" cy="3124943"/>
              </a:xfrm>
              <a:prstGeom prst="rect">
                <a:avLst/>
              </a:prstGeom>
            </p:spPr>
          </p:pic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C0A5B1C-4309-FF5D-E539-73FC7F4900D1}"/>
                </a:ext>
              </a:extLst>
            </p:cNvPr>
            <p:cNvSpPr txBox="1"/>
            <p:nvPr/>
          </p:nvSpPr>
          <p:spPr>
            <a:xfrm>
              <a:off x="1484450" y="525476"/>
              <a:ext cx="41287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(a)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0F6A980-8005-6727-4EB3-E545FCBC31B5}"/>
                </a:ext>
              </a:extLst>
            </p:cNvPr>
            <p:cNvSpPr txBox="1"/>
            <p:nvPr/>
          </p:nvSpPr>
          <p:spPr>
            <a:xfrm>
              <a:off x="5651042" y="525476"/>
              <a:ext cx="41287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(b)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F668FCC-6E3F-977C-F0CA-311DD9894F79}"/>
                </a:ext>
              </a:extLst>
            </p:cNvPr>
            <p:cNvSpPr txBox="1"/>
            <p:nvPr/>
          </p:nvSpPr>
          <p:spPr>
            <a:xfrm>
              <a:off x="1484451" y="2990107"/>
              <a:ext cx="41287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(c)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059238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6b6dd5b-f02f-441a-99a0-162ac5060bd2}" enabled="0" method="" siteId="{f6b6dd5b-f02f-441a-99a0-162ac5060bd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634</TotalTime>
  <Words>229</Words>
  <Application>Microsoft Macintosh PowerPoint</Application>
  <PresentationFormat>Widescreen</PresentationFormat>
  <Paragraphs>67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Yinxiang Wu</dc:creator>
  <cp:lastModifiedBy>Yinxiang Wu</cp:lastModifiedBy>
  <cp:revision>1</cp:revision>
  <dcterms:created xsi:type="dcterms:W3CDTF">2025-03-20T17:38:36Z</dcterms:created>
  <dcterms:modified xsi:type="dcterms:W3CDTF">2025-11-08T00:02:06Z</dcterms:modified>
</cp:coreProperties>
</file>